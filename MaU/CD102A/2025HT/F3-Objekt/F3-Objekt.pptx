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57" r:id="rId6"/>
    <p:sldId id="258" r:id="rId7"/>
    <p:sldId id="259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60" r:id="rId17"/>
    <p:sldId id="261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66" r:id="rId34"/>
    <p:sldId id="267" r:id="rId35"/>
    <p:sldId id="292" r:id="rId36"/>
    <p:sldId id="293" r:id="rId37"/>
    <p:sldId id="268" r:id="rId38"/>
  </p:sldIdLst>
  <p:sldSz cx="12192000" cy="6858000"/>
  <p:notesSz cx="6858000" cy="9144000"/>
  <p:embeddedFontLs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Trebuchet MS" panose="020B0603020202020204" pitchFamily="34" charset="0"/>
      <p:regular r:id="rId45"/>
      <p:bold r:id="rId46"/>
      <p:italic r:id="rId47"/>
      <p:boldItalic r:id="rId48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C0A3"/>
    <a:srgbClr val="FFFFFF"/>
    <a:srgbClr val="FCE0D2"/>
    <a:srgbClr val="B1C1DF"/>
    <a:srgbClr val="FFEC83"/>
    <a:srgbClr val="98D1C9"/>
    <a:srgbClr val="453777"/>
    <a:srgbClr val="FFE000"/>
    <a:srgbClr val="00A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llanmörkt format 2 - Dekorfär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llanmörkt format 2 - Dekorfärg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llanmörkt format 1 - Dekorfärg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llanmörkt format 1 - Dekorfär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llanmörkt format 1 - Dekorfär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llanmörkt format 2 - Dekorfär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llanmörkt format 2 - Dekorfär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llanmörkt forma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327" autoAdjust="0"/>
  </p:normalViewPr>
  <p:slideViewPr>
    <p:cSldViewPr snapToGrid="0">
      <p:cViewPr varScale="1">
        <p:scale>
          <a:sx n="110" d="100"/>
          <a:sy n="110" d="100"/>
        </p:scale>
        <p:origin x="114" y="1062"/>
      </p:cViewPr>
      <p:guideLst/>
    </p:cSldViewPr>
  </p:slideViewPr>
  <p:outlineViewPr>
    <p:cViewPr>
      <p:scale>
        <a:sx n="33" d="100"/>
        <a:sy n="33" d="100"/>
      </p:scale>
      <p:origin x="0" y="-127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36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579EA2F2-0FB1-F465-55AB-39496FBF8A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E478B8E-A025-55B8-4334-51F5F470CD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C2ADC-CDE1-46C8-B0B9-74EC221ED48B}" type="datetimeFigureOut">
              <a:rPr lang="sv-SE" smtClean="0"/>
              <a:t>2025-11-06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24045FE-D39E-3F05-919E-DD2E45E784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E4BBE175-9F0D-93BD-AED4-7238A932DB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33F2E-BD5C-449E-8641-0C3974216AC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64023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6BEDD-9653-4166-8E31-D9026D7452CE}" type="datetimeFigureOut">
              <a:rPr lang="sv-SE" smtClean="0"/>
              <a:t>2025-11-06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A215D-2E1D-4C86-81CD-C42E88A554D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352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ildobjekt 22" descr="En bild som visar skärmbild, konst&#10;&#10;Automatiskt genererad beskrivning">
            <a:extLst>
              <a:ext uri="{FF2B5EF4-FFF2-40B4-BE49-F238E27FC236}">
                <a16:creationId xmlns:a16="http://schemas.microsoft.com/office/drawing/2014/main" id="{E55A94D7-1758-8381-2FE6-CB84E44672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65882710-C74F-4E44-0FCE-7785D0BAB8B6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20" name="Bildobjekt 19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E940415C-A03F-241D-BAE9-E36BCB9441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59" y="361992"/>
            <a:ext cx="1126472" cy="1324765"/>
          </a:xfrm>
          <a:prstGeom prst="rect">
            <a:avLst/>
          </a:prstGeom>
        </p:spPr>
      </p:pic>
      <p:sp>
        <p:nvSpPr>
          <p:cNvPr id="3" name="Rubrik 14">
            <a:extLst>
              <a:ext uri="{FF2B5EF4-FFF2-40B4-BE49-F238E27FC236}">
                <a16:creationId xmlns:a16="http://schemas.microsoft.com/office/drawing/2014/main" id="{230C997E-3B49-D42C-2929-236AF8344A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2851035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5" name="Platshållare för text 7">
            <a:extLst>
              <a:ext uri="{FF2B5EF4-FFF2-40B4-BE49-F238E27FC236}">
                <a16:creationId xmlns:a16="http://schemas.microsoft.com/office/drawing/2014/main" id="{B05D6DB4-20DF-B370-E556-9C3252042E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3913313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91FB53A1-8A86-E07F-EACA-33B33B0FC0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2320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8" descr="En bild som visar Människoansikte, person, klädsel, skärmbild&#10;&#10;Automatiskt genererad beskrivning">
            <a:extLst>
              <a:ext uri="{FF2B5EF4-FFF2-40B4-BE49-F238E27FC236}">
                <a16:creationId xmlns:a16="http://schemas.microsoft.com/office/drawing/2014/main" id="{659D479E-9727-7761-5472-600A231C3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BC60DC53-13C5-CE2D-2857-439A43CCB2C2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5" name="Rubrik 14">
            <a:extLst>
              <a:ext uri="{FF2B5EF4-FFF2-40B4-BE49-F238E27FC236}">
                <a16:creationId xmlns:a16="http://schemas.microsoft.com/office/drawing/2014/main" id="{A79034C5-AFA7-2A88-0384-40135C8DC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4401756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7" name="Platshållare för text 7">
            <a:extLst>
              <a:ext uri="{FF2B5EF4-FFF2-40B4-BE49-F238E27FC236}">
                <a16:creationId xmlns:a16="http://schemas.microsoft.com/office/drawing/2014/main" id="{DEA187D3-249F-AD2A-9AEB-FF77F650250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5467814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3" name="Platshållare för text 5">
            <a:extLst>
              <a:ext uri="{FF2B5EF4-FFF2-40B4-BE49-F238E27FC236}">
                <a16:creationId xmlns:a16="http://schemas.microsoft.com/office/drawing/2014/main" id="{1CF5C316-F562-D674-D429-B0FC6FFD9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  <p:pic>
        <p:nvPicPr>
          <p:cNvPr id="6" name="Bildobjekt 5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B5DA42A8-C053-1244-2466-DB8969065F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59" y="361992"/>
            <a:ext cx="1126472" cy="13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3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 descr="En bild som visar klädsel, Människoansikte, byggnad, person&#10;&#10;Automatiskt genererad beskrivning">
            <a:extLst>
              <a:ext uri="{FF2B5EF4-FFF2-40B4-BE49-F238E27FC236}">
                <a16:creationId xmlns:a16="http://schemas.microsoft.com/office/drawing/2014/main" id="{7B3E16C6-EB53-51DF-76CC-6DAD957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82636CF0-8233-EDD6-BE45-C47E995CE723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2" name="Bildobjekt 1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8" y="421342"/>
            <a:ext cx="1105314" cy="1299882"/>
          </a:xfrm>
          <a:prstGeom prst="rect">
            <a:avLst/>
          </a:prstGeom>
        </p:spPr>
      </p:pic>
      <p:sp>
        <p:nvSpPr>
          <p:cNvPr id="5" name="Rubrik 14">
            <a:extLst>
              <a:ext uri="{FF2B5EF4-FFF2-40B4-BE49-F238E27FC236}">
                <a16:creationId xmlns:a16="http://schemas.microsoft.com/office/drawing/2014/main" id="{0F98ACB9-20D6-51A4-9499-9BBB227DD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4401756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0AC03A3-EE26-64EC-6CB1-B49B2BCF89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5467814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3" name="Platshållare för text 5">
            <a:extLst>
              <a:ext uri="{FF2B5EF4-FFF2-40B4-BE49-F238E27FC236}">
                <a16:creationId xmlns:a16="http://schemas.microsoft.com/office/drawing/2014/main" id="{AB956B85-677F-D508-24B4-400AE99FB1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73430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 rader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ildobjekt 20" descr="En bild som visar skärmbild, person, Människoansikte, vägg&#10;&#10;Automatiskt genererad beskrivning">
            <a:extLst>
              <a:ext uri="{FF2B5EF4-FFF2-40B4-BE49-F238E27FC236}">
                <a16:creationId xmlns:a16="http://schemas.microsoft.com/office/drawing/2014/main" id="{3E0F3559-DD57-4DDE-EA0B-53655CE74F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82636CF0-8233-EDD6-BE45-C47E995CE723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rgbClr val="F9C0A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2" name="Bildobjekt 1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8" y="421342"/>
            <a:ext cx="1105314" cy="1299882"/>
          </a:xfrm>
          <a:prstGeom prst="rect">
            <a:avLst/>
          </a:prstGeom>
        </p:spPr>
      </p:pic>
      <p:sp>
        <p:nvSpPr>
          <p:cNvPr id="5" name="Rubrik 14">
            <a:extLst>
              <a:ext uri="{FF2B5EF4-FFF2-40B4-BE49-F238E27FC236}">
                <a16:creationId xmlns:a16="http://schemas.microsoft.com/office/drawing/2014/main" id="{0F98ACB9-20D6-51A4-9499-9BBB227DD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1389" y="1682915"/>
            <a:ext cx="6317332" cy="917138"/>
          </a:xfrm>
          <a:solidFill>
            <a:schemeClr val="bg1"/>
          </a:solidFill>
          <a:effectLst/>
        </p:spPr>
        <p:txBody>
          <a:bodyPr wrap="square" lIns="144000" tIns="144000" rIns="72000" bIns="144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Titelsida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0AC03A3-EE26-64EC-6CB1-B49B2BCF89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51389" y="2748973"/>
            <a:ext cx="6317332" cy="394705"/>
          </a:xfrm>
          <a:solidFill>
            <a:schemeClr val="bg1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sp>
        <p:nvSpPr>
          <p:cNvPr id="3" name="Platshållare för text 5">
            <a:extLst>
              <a:ext uri="{FF2B5EF4-FFF2-40B4-BE49-F238E27FC236}">
                <a16:creationId xmlns:a16="http://schemas.microsoft.com/office/drawing/2014/main" id="{795CFFDE-A0C8-1872-28DA-8283D7D0E5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363" y="6364288"/>
            <a:ext cx="1541462" cy="3175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sv-S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93654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+ egen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A33D5219-7859-8653-EB72-FFC5FE82E9F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97075" y="0"/>
            <a:ext cx="10194925" cy="6858000"/>
          </a:xfrm>
        </p:spPr>
        <p:txBody>
          <a:bodyPr lIns="144000" tIns="252000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), för att lägga till en bild.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5882710-C74F-4E44-0FCE-7785D0BAB8B6}"/>
              </a:ext>
            </a:extLst>
          </p:cNvPr>
          <p:cNvSpPr/>
          <p:nvPr userDrawn="1"/>
        </p:nvSpPr>
        <p:spPr>
          <a:xfrm>
            <a:off x="0" y="0"/>
            <a:ext cx="199675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4" name="Rubrik 14">
            <a:extLst>
              <a:ext uri="{FF2B5EF4-FFF2-40B4-BE49-F238E27FC236}">
                <a16:creationId xmlns:a16="http://schemas.microsoft.com/office/drawing/2014/main" id="{43D3D8FA-F9C3-4736-DB3C-99DB5395B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0746" y="2345013"/>
            <a:ext cx="5406110" cy="1599239"/>
          </a:xfrm>
          <a:solidFill>
            <a:srgbClr val="FFFFFF"/>
          </a:solidFill>
          <a:effectLst/>
        </p:spPr>
        <p:txBody>
          <a:bodyPr wrap="square" lIns="144000" tIns="180000" rIns="72000" bIns="180000" anchor="b" anchorCtr="0">
            <a:spAutoFit/>
          </a:bodyPr>
          <a:lstStyle>
            <a:lvl1pPr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 dirty="0"/>
              <a:t>Titel, en eller två rader</a:t>
            </a:r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2D96F384-E15C-B278-34B5-8CF3C2E13A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0746" y="4115628"/>
            <a:ext cx="5406110" cy="394705"/>
          </a:xfrm>
          <a:solidFill>
            <a:srgbClr val="FFFFFF"/>
          </a:solidFill>
          <a:effectLst/>
        </p:spPr>
        <p:txBody>
          <a:bodyPr vert="horz" wrap="square" lIns="144000" tIns="72000" rIns="72000" bIns="72000">
            <a:spAutoFit/>
          </a:bodyPr>
          <a:lstStyle>
            <a:lvl1pPr marL="0" indent="0">
              <a:buNone/>
              <a:defRPr sz="1800" b="0" kern="12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sv-SE" dirty="0"/>
              <a:t>Namn, tillhörighet</a:t>
            </a:r>
          </a:p>
        </p:txBody>
      </p:sp>
      <p:pic>
        <p:nvPicPr>
          <p:cNvPr id="2" name="Bildobjekt 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8074AA74-72B8-6325-700F-A507580778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8" y="421342"/>
            <a:ext cx="1105314" cy="129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2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B91C55F-3E29-F3E8-1A26-D1D8669F1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3CA9C154-3F92-1358-41C6-E59674103128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5174E48D-9888-FF57-A97B-A8DEF12F11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23E1083-8FB2-AF36-52B4-5721ABB3CD9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C4BA94F-A1BC-4B5C-B1B2-A82F0E2F53AD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A9D5C9E-ED0E-783B-E898-6F03ACF161B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9BAC0AC-7EF4-FBB7-2290-7AF39AE98F9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2810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49B130D2-0718-680B-384F-B233C8A514C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E1AB60EE-B23E-ACB2-D3A3-659A96101B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2746BB18-773A-FF79-CA7C-784561631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5C1D30B-9E88-E277-2D3B-2E131EB107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CE5FA03-1923-477F-A333-1A436EAB7A61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9CE4F51-C7BE-A239-3D41-849D0DA75C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A0F5100-F111-D07F-C7C7-2DD2D04DF2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002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4FA1EDCB-AAF9-9482-D385-927A775E2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A379571B-2022-2664-BF30-C554E52F2C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9DA902B-31DF-6BBE-C01A-2F026AE105C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1690BBC-5B45-4086-B484-AEE5654DBDF0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5E60E26-7CBF-F4C5-8DEF-C6C653C191D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AAD7782-9A82-F29C-10BB-1199B90825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989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+ lång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F8B10836-72DB-7C34-490E-15FD1C048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3885EE44-E551-CEF0-4927-6E2606479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9BF32EF-7CF8-BC9C-9E10-87C78D6E885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15721B4-2799-432E-8A9D-E0B8409E6824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A243C66-2C2D-8061-CC31-1FE0B577435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477E903-96F8-A811-F16F-49C820D5D97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6567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la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3CA9C154-3F92-1358-41C6-E596741031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Rubrik 1">
            <a:extLst>
              <a:ext uri="{FF2B5EF4-FFF2-40B4-BE49-F238E27FC236}">
                <a16:creationId xmlns:a16="http://schemas.microsoft.com/office/drawing/2014/main" id="{B794D4B1-9D45-718B-48F7-3042AE0DA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F83302BF-613C-18CB-6AFB-634C4415E2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90125909-40A4-1019-2470-983C8D5F37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AD9BCEA-4FC9-42A3-A260-747982F96385}" type="datetime1">
              <a:rPr lang="sv-SE" smtClean="0"/>
              <a:t>2025-11-06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79A8C19-2BB2-03C5-B8A2-E3D3CD2A95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DE9F536-B7F6-9F49-0096-8FBEC114759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482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kos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49B130D2-0718-680B-384F-B233C8A514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F04CC5B1-514D-6343-98FF-E0B3EA5A8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32CD14D5-892F-300C-F047-7FF4E1AE3F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812B84D-28FC-E6E2-096E-8764E927EE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7C790AC-DE7C-D4FA-C714-41CFD7A4E7C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A23BF7F-3EBC-5173-9571-205EB40A86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3376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l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B7DE1C09-5A85-74FD-4A75-816951835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140CF94C-7046-2589-92FE-EB470972D6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3C4C60EB-3C47-86E7-AA26-A80279D087D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6D0ED35-8554-B417-09D2-52FEE2C3B2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F37EDF5-AF54-DBD8-636E-C05D8193D76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1263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bakgrund, rubr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CE0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26ACC37E-40B0-8341-25C5-13B191F6C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7"/>
            <a:ext cx="10515600" cy="1100016"/>
          </a:xfrm>
        </p:spPr>
        <p:txBody>
          <a:bodyPr>
            <a:noAutofit/>
          </a:bodyPr>
          <a:lstStyle>
            <a:lvl1pPr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2DD80628-4D9C-EFA8-A266-BD94F860F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81407" y="1751106"/>
            <a:ext cx="9629186" cy="449430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B987A19-15CD-6D39-8007-DF8C6C9523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482646D-1036-46EA-A749-A827EE812A57}" type="datetime1">
              <a:rPr lang="sv-SE" smtClean="0"/>
              <a:t>2025-11-06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3B84298-418E-CE0E-7412-386B5CB5D5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9995E2F-79E7-459E-BED9-309AC1947D5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8405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skärmbild, mönster, slips, design&#10;&#10;Automatiskt genererad beskrivning">
            <a:extLst>
              <a:ext uri="{FF2B5EF4-FFF2-40B4-BE49-F238E27FC236}">
                <a16:creationId xmlns:a16="http://schemas.microsoft.com/office/drawing/2014/main" id="{5F5ACD2F-7B16-F480-61CE-20A6792D80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F91AFB9C-D34E-2FB1-E1EE-F3F270640E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425D95EB-F3C8-1185-DAC5-20CFFB9AF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166228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 descr="En bild som visar skärmbild, mönster, aqua, design&#10;&#10;Automatiskt genererad beskrivning">
            <a:extLst>
              <a:ext uri="{FF2B5EF4-FFF2-40B4-BE49-F238E27FC236}">
                <a16:creationId xmlns:a16="http://schemas.microsoft.com/office/drawing/2014/main" id="{F6E1145E-DEFB-B6D0-8ABD-F277D2E6A1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73D0AD0D-9D18-B298-7C86-1FF7100C4E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C839EF99-23C4-B4CD-29C3-3873CCF067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7318733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gul, skärmbild, design&#10;&#10;Automatiskt genererad beskrivning">
            <a:extLst>
              <a:ext uri="{FF2B5EF4-FFF2-40B4-BE49-F238E27FC236}">
                <a16:creationId xmlns:a16="http://schemas.microsoft.com/office/drawing/2014/main" id="{DEEB29DB-4E70-9051-B607-EAFD934AC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D93097DA-5414-F11B-B54E-D1C2DE0FF7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8" name="Rubrik 4">
            <a:extLst>
              <a:ext uri="{FF2B5EF4-FFF2-40B4-BE49-F238E27FC236}">
                <a16:creationId xmlns:a16="http://schemas.microsoft.com/office/drawing/2014/main" id="{40E7ADF0-61E2-217A-E5D8-6B3B58EF60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471962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önster, rubrik +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skärmbild, plåster, design&#10;&#10;Automatiskt genererad beskrivning">
            <a:extLst>
              <a:ext uri="{FF2B5EF4-FFF2-40B4-BE49-F238E27FC236}">
                <a16:creationId xmlns:a16="http://schemas.microsoft.com/office/drawing/2014/main" id="{0B1AF4BA-338B-1194-29AB-5C2BF6CC5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B3806CA5-D5A8-EF35-5DB3-61F5321E8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57271" y="1506071"/>
            <a:ext cx="6912216" cy="4894352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209F5C9D-B2E8-C346-489F-4E23BF7D8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9697" y="425107"/>
            <a:ext cx="729343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468203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384B73F-16F3-E7ED-97F2-C4773C203952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2BAFB700-9E53-B7A2-CF85-7CE0FE9939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/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DB7EF4DF-16EC-47AD-A529-44137EA5D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A806F1DB-2E80-279F-0F3C-07F0166470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013069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EA443FA7-E75D-2414-C51D-5C41C0DE42D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85861CC0-0338-8753-7CB6-BA9CADDDBF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73E80279-744A-49F3-E1B6-5BC02D31CD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4059586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ACFC3E73-CCF9-53F5-4089-07CD4662D8A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/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5265AA3D-D67E-3748-B583-FFD02CC6C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76A28FC3-88DA-8660-4F06-2C35E4CE9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767056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höger, rubrik +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C9601BAA-6AD8-A04C-4CAF-33184DA5BB3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21517" y="-2168"/>
            <a:ext cx="5570484" cy="6860167"/>
          </a:xfrm>
          <a:custGeom>
            <a:avLst/>
            <a:gdLst>
              <a:gd name="connsiteX0" fmla="*/ 0 w 5570484"/>
              <a:gd name="connsiteY0" fmla="*/ 6858000 h 6858000"/>
              <a:gd name="connsiteX1" fmla="*/ 0 w 5570484"/>
              <a:gd name="connsiteY1" fmla="*/ 0 h 6858000"/>
              <a:gd name="connsiteX2" fmla="*/ 5570484 w 5570484"/>
              <a:gd name="connsiteY2" fmla="*/ 0 h 6858000"/>
              <a:gd name="connsiteX3" fmla="*/ 5570484 w 5570484"/>
              <a:gd name="connsiteY3" fmla="*/ 6858000 h 6858000"/>
              <a:gd name="connsiteX4" fmla="*/ 0 w 5570484"/>
              <a:gd name="connsiteY4" fmla="*/ 6858000 h 6858000"/>
              <a:gd name="connsiteX0" fmla="*/ 0 w 5570484"/>
              <a:gd name="connsiteY0" fmla="*/ 6863977 h 6863977"/>
              <a:gd name="connsiteX1" fmla="*/ 657412 w 5570484"/>
              <a:gd name="connsiteY1" fmla="*/ 0 h 6863977"/>
              <a:gd name="connsiteX2" fmla="*/ 5570484 w 5570484"/>
              <a:gd name="connsiteY2" fmla="*/ 5977 h 6863977"/>
              <a:gd name="connsiteX3" fmla="*/ 5570484 w 5570484"/>
              <a:gd name="connsiteY3" fmla="*/ 6863977 h 6863977"/>
              <a:gd name="connsiteX4" fmla="*/ 0 w 5570484"/>
              <a:gd name="connsiteY4" fmla="*/ 6863977 h 6863977"/>
              <a:gd name="connsiteX0" fmla="*/ 0 w 5570484"/>
              <a:gd name="connsiteY0" fmla="*/ 6860167 h 6860167"/>
              <a:gd name="connsiteX1" fmla="*/ 645982 w 5570484"/>
              <a:gd name="connsiteY1" fmla="*/ 0 h 6860167"/>
              <a:gd name="connsiteX2" fmla="*/ 5570484 w 5570484"/>
              <a:gd name="connsiteY2" fmla="*/ 2167 h 6860167"/>
              <a:gd name="connsiteX3" fmla="*/ 5570484 w 5570484"/>
              <a:gd name="connsiteY3" fmla="*/ 6860167 h 6860167"/>
              <a:gd name="connsiteX4" fmla="*/ 0 w 5570484"/>
              <a:gd name="connsiteY4" fmla="*/ 6860167 h 686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484" h="6860167">
                <a:moveTo>
                  <a:pt x="0" y="6860167"/>
                </a:moveTo>
                <a:lnTo>
                  <a:pt x="645982" y="0"/>
                </a:lnTo>
                <a:lnTo>
                  <a:pt x="5570484" y="2167"/>
                </a:lnTo>
                <a:lnTo>
                  <a:pt x="5570484" y="6860167"/>
                </a:lnTo>
                <a:lnTo>
                  <a:pt x="0" y="6860167"/>
                </a:lnTo>
                <a:close/>
              </a:path>
            </a:pathLst>
          </a:custGeom>
        </p:spPr>
        <p:txBody>
          <a:bodyPr lIns="144000" tIns="144000"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2C23A854-0B8E-C453-D696-ED2936DA1C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7524" y="1583767"/>
            <a:ext cx="5773445" cy="479187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05C22702-0BBE-8002-A51A-3CD6200A9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8"/>
            <a:ext cx="5773445" cy="896075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716804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5486E0BB-99FD-BAAA-8A94-DDB275D62B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A41637E0-D0D3-92A7-601D-E0B6575A00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F3F909DE-7BC8-2CB3-AA49-D1E0A69D39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860623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5">
            <a:extLst>
              <a:ext uri="{FF2B5EF4-FFF2-40B4-BE49-F238E27FC236}">
                <a16:creationId xmlns:a16="http://schemas.microsoft.com/office/drawing/2014/main" id="{266518CF-5669-AECF-3400-7759C76472D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4BC9AE44-1044-6B88-8056-784CFCCEFF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D592FD17-DB3D-CEBD-9B0D-6E428C3FB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8588031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5">
            <a:extLst>
              <a:ext uri="{FF2B5EF4-FFF2-40B4-BE49-F238E27FC236}">
                <a16:creationId xmlns:a16="http://schemas.microsoft.com/office/drawing/2014/main" id="{79DF7975-2462-FC38-E3A6-7C0CF3F20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82A0036C-29E3-8463-C7E7-BAF1E7E63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3" name="Rubrik 4">
            <a:extLst>
              <a:ext uri="{FF2B5EF4-FFF2-40B4-BE49-F238E27FC236}">
                <a16:creationId xmlns:a16="http://schemas.microsoft.com/office/drawing/2014/main" id="{83AABA86-522B-315D-C366-761AE9BF2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21161861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änster, rubrik + tex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ktangel 12">
            <a:extLst>
              <a:ext uri="{FF2B5EF4-FFF2-40B4-BE49-F238E27FC236}">
                <a16:creationId xmlns:a16="http://schemas.microsoft.com/office/drawing/2014/main" id="{73402C40-F64A-666D-404F-8491ADB782E6}"/>
              </a:ext>
            </a:extLst>
          </p:cNvPr>
          <p:cNvSpPr/>
          <p:nvPr userDrawn="1"/>
        </p:nvSpPr>
        <p:spPr>
          <a:xfrm>
            <a:off x="12050333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5">
            <a:extLst>
              <a:ext uri="{FF2B5EF4-FFF2-40B4-BE49-F238E27FC236}">
                <a16:creationId xmlns:a16="http://schemas.microsoft.com/office/drawing/2014/main" id="{E2B25B12-2F50-87CF-DA8C-60ED599E94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40"/>
            <a:ext cx="5570538" cy="6858939"/>
          </a:xfrm>
          <a:custGeom>
            <a:avLst/>
            <a:gdLst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5570538 w 5570538"/>
              <a:gd name="connsiteY2" fmla="*/ 0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51105 w 5570538"/>
              <a:gd name="connsiteY2" fmla="*/ 7374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63095 h 6863095"/>
              <a:gd name="connsiteX1" fmla="*/ 0 w 5570538"/>
              <a:gd name="connsiteY1" fmla="*/ 5095 h 6863095"/>
              <a:gd name="connsiteX2" fmla="*/ 4951105 w 5570538"/>
              <a:gd name="connsiteY2" fmla="*/ 0 h 6863095"/>
              <a:gd name="connsiteX3" fmla="*/ 5570538 w 5570538"/>
              <a:gd name="connsiteY3" fmla="*/ 6863095 h 6863095"/>
              <a:gd name="connsiteX4" fmla="*/ 0 w 5570538"/>
              <a:gd name="connsiteY4" fmla="*/ 6863095 h 6863095"/>
              <a:gd name="connsiteX0" fmla="*/ 0 w 5570538"/>
              <a:gd name="connsiteY0" fmla="*/ 6858000 h 6858000"/>
              <a:gd name="connsiteX1" fmla="*/ 0 w 5570538"/>
              <a:gd name="connsiteY1" fmla="*/ 0 h 6858000"/>
              <a:gd name="connsiteX2" fmla="*/ 4946949 w 5570538"/>
              <a:gd name="connsiteY2" fmla="*/ 3218 h 6858000"/>
              <a:gd name="connsiteX3" fmla="*/ 5570538 w 5570538"/>
              <a:gd name="connsiteY3" fmla="*/ 6858000 h 6858000"/>
              <a:gd name="connsiteX4" fmla="*/ 0 w 5570538"/>
              <a:gd name="connsiteY4" fmla="*/ 6858000 h 6858000"/>
              <a:gd name="connsiteX0" fmla="*/ 0 w 5570538"/>
              <a:gd name="connsiteY0" fmla="*/ 6858939 h 6858939"/>
              <a:gd name="connsiteX1" fmla="*/ 0 w 5570538"/>
              <a:gd name="connsiteY1" fmla="*/ 939 h 6858939"/>
              <a:gd name="connsiteX2" fmla="*/ 4951105 w 5570538"/>
              <a:gd name="connsiteY2" fmla="*/ 0 h 6858939"/>
              <a:gd name="connsiteX3" fmla="*/ 5570538 w 5570538"/>
              <a:gd name="connsiteY3" fmla="*/ 6858939 h 6858939"/>
              <a:gd name="connsiteX4" fmla="*/ 0 w 5570538"/>
              <a:gd name="connsiteY4" fmla="*/ 6858939 h 685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70538" h="6858939">
                <a:moveTo>
                  <a:pt x="0" y="6858939"/>
                </a:moveTo>
                <a:lnTo>
                  <a:pt x="0" y="939"/>
                </a:lnTo>
                <a:lnTo>
                  <a:pt x="4951105" y="0"/>
                </a:lnTo>
                <a:lnTo>
                  <a:pt x="5570538" y="6858939"/>
                </a:lnTo>
                <a:lnTo>
                  <a:pt x="0" y="6858939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Platshållare för text 6">
            <a:extLst>
              <a:ext uri="{FF2B5EF4-FFF2-40B4-BE49-F238E27FC236}">
                <a16:creationId xmlns:a16="http://schemas.microsoft.com/office/drawing/2014/main" id="{C5BC77B6-B7E3-18CB-4F55-0815DA8548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00" y="1583765"/>
            <a:ext cx="5773445" cy="4803831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A3D6A1A0-F653-6BCB-3053-08CF25B10B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8498" y="482356"/>
            <a:ext cx="5773445" cy="936869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3587768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Platshållare för bild 4">
            <a:extLst>
              <a:ext uri="{FF2B5EF4-FFF2-40B4-BE49-F238E27FC236}">
                <a16:creationId xmlns:a16="http://schemas.microsoft.com/office/drawing/2014/main" id="{17067393-D64B-E636-589F-BA90D892F7F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7522" y="1541929"/>
            <a:ext cx="5470358" cy="4606623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831C683E-DCC6-E9B6-6E24-F1CAEC837B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681" y="1541929"/>
            <a:ext cx="5398476" cy="4606623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64957591-F562-4676-BBEA-955930D7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7681519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6" name="Platshållare för bild 4">
            <a:extLst>
              <a:ext uri="{FF2B5EF4-FFF2-40B4-BE49-F238E27FC236}">
                <a16:creationId xmlns:a16="http://schemas.microsoft.com/office/drawing/2014/main" id="{91EE3019-AF73-E0F9-4A6C-C00622B4A8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7522" y="1541929"/>
            <a:ext cx="5470358" cy="4606623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F5443958-F4AE-B45A-064B-DE7C172DCD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681" y="1541929"/>
            <a:ext cx="5398476" cy="4606623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4" name="Rubrik 1">
            <a:extLst>
              <a:ext uri="{FF2B5EF4-FFF2-40B4-BE49-F238E27FC236}">
                <a16:creationId xmlns:a16="http://schemas.microsoft.com/office/drawing/2014/main" id="{5F1DA3DD-6EE0-BDBE-7F44-FCAC25FEA90E}"/>
              </a:ext>
            </a:extLst>
          </p:cNvPr>
          <p:cNvSpPr txBox="1">
            <a:spLocks/>
          </p:cNvSpPr>
          <p:nvPr userDrawn="1"/>
        </p:nvSpPr>
        <p:spPr>
          <a:xfrm>
            <a:off x="697523" y="482356"/>
            <a:ext cx="10515600" cy="9368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endParaRPr lang="sv-SE" dirty="0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B29432F3-4BED-D8FF-D240-D9B264A08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524895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chemeClr val="accent1"/>
              </a:solidFill>
            </a:endParaRPr>
          </a:p>
        </p:txBody>
      </p:sp>
      <p:sp>
        <p:nvSpPr>
          <p:cNvPr id="4" name="Platshållare för bild 4">
            <a:extLst>
              <a:ext uri="{FF2B5EF4-FFF2-40B4-BE49-F238E27FC236}">
                <a16:creationId xmlns:a16="http://schemas.microsoft.com/office/drawing/2014/main" id="{4E119E4A-E30E-2659-79BC-2506E7D1CD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00799" y="1559860"/>
            <a:ext cx="5470358" cy="4588692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58C6D741-B129-0193-DAB2-2334F8F567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522" y="1559860"/>
            <a:ext cx="5398476" cy="458271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2" name="Rubrik 4">
            <a:extLst>
              <a:ext uri="{FF2B5EF4-FFF2-40B4-BE49-F238E27FC236}">
                <a16:creationId xmlns:a16="http://schemas.microsoft.com/office/drawing/2014/main" id="{471A6ACC-8013-A853-6E47-A6BA8B256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19753137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re rubrik + text + bild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A4451E58-B962-56AD-C1D3-AA351BC16C3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00799" y="1559860"/>
            <a:ext cx="5470358" cy="4588692"/>
          </a:xfrm>
          <a:prstGeom prst="parallelogram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F7E73792-7C95-FEFF-864C-217D42C447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522" y="1559860"/>
            <a:ext cx="5398476" cy="4582716"/>
          </a:xfrm>
        </p:spPr>
        <p:txBody>
          <a:bodyPr numCol="1">
            <a:no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 i punktform</a:t>
            </a:r>
          </a:p>
        </p:txBody>
      </p:sp>
      <p:sp>
        <p:nvSpPr>
          <p:cNvPr id="4" name="Rubrik 4">
            <a:extLst>
              <a:ext uri="{FF2B5EF4-FFF2-40B4-BE49-F238E27FC236}">
                <a16:creationId xmlns:a16="http://schemas.microsoft.com/office/drawing/2014/main" id="{0A5D0B54-22AE-D2EA-D653-7DA2E3EF9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70266"/>
            <a:ext cx="10515600" cy="965527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Rubrik</a:t>
            </a:r>
          </a:p>
        </p:txBody>
      </p:sp>
    </p:spTree>
    <p:extLst>
      <p:ext uri="{BB962C8B-B14F-4D97-AF65-F5344CB8AC3E}">
        <p14:creationId xmlns:p14="http://schemas.microsoft.com/office/powerpoint/2010/main" val="4107408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 bild och kortar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2E4E5936-AEB1-958E-9912-9228A8EDD32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7709" y="0"/>
            <a:ext cx="12034291" cy="6858000"/>
          </a:xfrm>
          <a:ln>
            <a:noFill/>
          </a:ln>
        </p:spPr>
        <p:txBody>
          <a:bodyPr lIns="144000" tIns="108000" rIns="72000"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73C8F065-E8CA-7AD5-3DDA-47CAAA09B0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0549" y="3746501"/>
            <a:ext cx="5075145" cy="1029476"/>
          </a:xfrm>
        </p:spPr>
        <p:txBody>
          <a:bodyPr numCol="1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Plats för kortare budskap, eller ta bort textrutan om du bara vill ha en bild.</a:t>
            </a:r>
          </a:p>
          <a:p>
            <a:pPr lvl="0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67235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dsk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0D2226E-9315-287F-0240-8DDAC1403522}"/>
              </a:ext>
            </a:extLst>
          </p:cNvPr>
          <p:cNvSpPr/>
          <p:nvPr userDrawn="1"/>
        </p:nvSpPr>
        <p:spPr>
          <a:xfrm>
            <a:off x="157709" y="0"/>
            <a:ext cx="12034291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EBE86B8C-6D93-2D45-6604-354068046E6A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12AE5755-0C81-5F95-D94E-D04A1B6BFC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54582" y="2228850"/>
            <a:ext cx="9082834" cy="1200150"/>
          </a:xfrm>
        </p:spPr>
        <p:txBody>
          <a:bodyPr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32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Skriv en längre mening eller text, inte för långt stycke.</a:t>
            </a:r>
          </a:p>
        </p:txBody>
      </p:sp>
    </p:spTree>
    <p:extLst>
      <p:ext uri="{BB962C8B-B14F-4D97-AF65-F5344CB8AC3E}">
        <p14:creationId xmlns:p14="http://schemas.microsoft.com/office/powerpoint/2010/main" val="66938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>
            <a:extLst>
              <a:ext uri="{FF2B5EF4-FFF2-40B4-BE49-F238E27FC236}">
                <a16:creationId xmlns:a16="http://schemas.microsoft.com/office/drawing/2014/main" id="{E93CC41E-C500-9401-1350-69B8F580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latshållare för text 3">
            <a:extLst>
              <a:ext uri="{FF2B5EF4-FFF2-40B4-BE49-F238E27FC236}">
                <a16:creationId xmlns:a16="http://schemas.microsoft.com/office/drawing/2014/main" id="{D33C1CEB-B821-8BC6-D867-458E43344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  <p:sp>
        <p:nvSpPr>
          <p:cNvPr id="7" name="Platshållare för text 3">
            <a:extLst>
              <a:ext uri="{FF2B5EF4-FFF2-40B4-BE49-F238E27FC236}">
                <a16:creationId xmlns:a16="http://schemas.microsoft.com/office/drawing/2014/main" id="{DD90964D-EFE7-1830-2B67-344C284ABD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8" name="Bild 9">
            <a:extLst>
              <a:ext uri="{FF2B5EF4-FFF2-40B4-BE49-F238E27FC236}">
                <a16:creationId xmlns:a16="http://schemas.microsoft.com/office/drawing/2014/main" id="{AF8903FA-AF7A-7F9B-72E2-487492B5A11A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chemeClr val="accent1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40273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 4">
            <a:extLst>
              <a:ext uri="{FF2B5EF4-FFF2-40B4-BE49-F238E27FC236}">
                <a16:creationId xmlns:a16="http://schemas.microsoft.com/office/drawing/2014/main" id="{EF6A00F7-2062-00AC-682C-0E345F4D38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7709" y="0"/>
            <a:ext cx="12034292" cy="6858000"/>
          </a:xfrm>
          <a:prstGeom prst="parallelogram">
            <a:avLst>
              <a:gd name="adj" fmla="val 0"/>
            </a:avLst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ACDA5D22-D512-340F-6EA9-8071EA8C8E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Bild 9">
            <a:extLst>
              <a:ext uri="{FF2B5EF4-FFF2-40B4-BE49-F238E27FC236}">
                <a16:creationId xmlns:a16="http://schemas.microsoft.com/office/drawing/2014/main" id="{81A85BDA-FEE8-76E8-9117-89FB7945516B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chemeClr val="accent3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8" name="Platshållare för text 3">
            <a:extLst>
              <a:ext uri="{FF2B5EF4-FFF2-40B4-BE49-F238E27FC236}">
                <a16:creationId xmlns:a16="http://schemas.microsoft.com/office/drawing/2014/main" id="{C91DBB42-7D5C-1EC0-EA51-E6F7BFAF07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5" name="Platshållare för text 3">
            <a:extLst>
              <a:ext uri="{FF2B5EF4-FFF2-40B4-BE49-F238E27FC236}">
                <a16:creationId xmlns:a16="http://schemas.microsoft.com/office/drawing/2014/main" id="{07F782FF-48AE-7D6C-792F-6A0D4FEE88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</p:spTree>
    <p:extLst>
      <p:ext uri="{BB962C8B-B14F-4D97-AF65-F5344CB8AC3E}">
        <p14:creationId xmlns:p14="http://schemas.microsoft.com/office/powerpoint/2010/main" val="6280771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>
            <a:extLst>
              <a:ext uri="{FF2B5EF4-FFF2-40B4-BE49-F238E27FC236}">
                <a16:creationId xmlns:a16="http://schemas.microsoft.com/office/drawing/2014/main" id="{E93CC41E-C500-9401-1350-69B8F580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Bild 9">
            <a:extLst>
              <a:ext uri="{FF2B5EF4-FFF2-40B4-BE49-F238E27FC236}">
                <a16:creationId xmlns:a16="http://schemas.microsoft.com/office/drawing/2014/main" id="{79BA0B2F-EDE3-0AE0-826B-C4B097501CC2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chemeClr val="accent5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EE26738-8173-2BAC-2E4A-215B0C737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5" name="Platshållare för text 3">
            <a:extLst>
              <a:ext uri="{FF2B5EF4-FFF2-40B4-BE49-F238E27FC236}">
                <a16:creationId xmlns:a16="http://schemas.microsoft.com/office/drawing/2014/main" id="{87D91082-BBBF-EA5D-76F7-B202633B2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</p:spTree>
    <p:extLst>
      <p:ext uri="{BB962C8B-B14F-4D97-AF65-F5344CB8AC3E}">
        <p14:creationId xmlns:p14="http://schemas.microsoft.com/office/powerpoint/2010/main" val="17529046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ktangel 20">
            <a:extLst>
              <a:ext uri="{FF2B5EF4-FFF2-40B4-BE49-F238E27FC236}">
                <a16:creationId xmlns:a16="http://schemas.microsoft.com/office/drawing/2014/main" id="{E93CC41E-C500-9401-1350-69B8F5801B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2" name="Bild 9">
            <a:extLst>
              <a:ext uri="{FF2B5EF4-FFF2-40B4-BE49-F238E27FC236}">
                <a16:creationId xmlns:a16="http://schemas.microsoft.com/office/drawing/2014/main" id="{79BA0B2F-EDE3-0AE0-826B-C4B097501CC2}"/>
              </a:ext>
            </a:extLst>
          </p:cNvPr>
          <p:cNvSpPr/>
          <p:nvPr userDrawn="1"/>
        </p:nvSpPr>
        <p:spPr>
          <a:xfrm>
            <a:off x="423418" y="235915"/>
            <a:ext cx="3211673" cy="2494612"/>
          </a:xfrm>
          <a:custGeom>
            <a:avLst/>
            <a:gdLst>
              <a:gd name="connsiteX0" fmla="*/ 3084610 w 3211673"/>
              <a:gd name="connsiteY0" fmla="*/ 0 h 2494612"/>
              <a:gd name="connsiteX1" fmla="*/ 3084610 w 3211673"/>
              <a:gd name="connsiteY1" fmla="*/ 182999 h 2494612"/>
              <a:gd name="connsiteX2" fmla="*/ 2475926 w 3211673"/>
              <a:gd name="connsiteY2" fmla="*/ 629279 h 2494612"/>
              <a:gd name="connsiteX3" fmla="*/ 2255615 w 3211673"/>
              <a:gd name="connsiteY3" fmla="*/ 1262244 h 2494612"/>
              <a:gd name="connsiteX4" fmla="*/ 2278053 w 3211673"/>
              <a:gd name="connsiteY4" fmla="*/ 1366806 h 2494612"/>
              <a:gd name="connsiteX5" fmla="*/ 2311678 w 3211673"/>
              <a:gd name="connsiteY5" fmla="*/ 1389180 h 2494612"/>
              <a:gd name="connsiteX6" fmla="*/ 2367677 w 3211673"/>
              <a:gd name="connsiteY6" fmla="*/ 1363056 h 2494612"/>
              <a:gd name="connsiteX7" fmla="*/ 2670176 w 3211673"/>
              <a:gd name="connsiteY7" fmla="*/ 1277181 h 2494612"/>
              <a:gd name="connsiteX8" fmla="*/ 3047362 w 3211673"/>
              <a:gd name="connsiteY8" fmla="*/ 1450837 h 2494612"/>
              <a:gd name="connsiteX9" fmla="*/ 3211673 w 3211673"/>
              <a:gd name="connsiteY9" fmla="*/ 1863491 h 2494612"/>
              <a:gd name="connsiteX10" fmla="*/ 3023080 w 3211673"/>
              <a:gd name="connsiteY10" fmla="*/ 2304177 h 2494612"/>
              <a:gd name="connsiteX11" fmla="*/ 2565614 w 3211673"/>
              <a:gd name="connsiteY11" fmla="*/ 2494613 h 2494612"/>
              <a:gd name="connsiteX12" fmla="*/ 2024116 w 3211673"/>
              <a:gd name="connsiteY12" fmla="*/ 2236927 h 2494612"/>
              <a:gd name="connsiteX13" fmla="*/ 1796305 w 3211673"/>
              <a:gd name="connsiteY13" fmla="*/ 1546055 h 2494612"/>
              <a:gd name="connsiteX14" fmla="*/ 2106240 w 3211673"/>
              <a:gd name="connsiteY14" fmla="*/ 642309 h 2494612"/>
              <a:gd name="connsiteX15" fmla="*/ 3084610 w 3211673"/>
              <a:gd name="connsiteY15" fmla="*/ 0 h 2494612"/>
              <a:gd name="connsiteX16" fmla="*/ 1288369 w 3211673"/>
              <a:gd name="connsiteY16" fmla="*/ 0 h 2494612"/>
              <a:gd name="connsiteX17" fmla="*/ 1288369 w 3211673"/>
              <a:gd name="connsiteY17" fmla="*/ 182999 h 2494612"/>
              <a:gd name="connsiteX18" fmla="*/ 679685 w 3211673"/>
              <a:gd name="connsiteY18" fmla="*/ 629279 h 2494612"/>
              <a:gd name="connsiteX19" fmla="*/ 459373 w 3211673"/>
              <a:gd name="connsiteY19" fmla="*/ 1262244 h 2494612"/>
              <a:gd name="connsiteX20" fmla="*/ 481748 w 3211673"/>
              <a:gd name="connsiteY20" fmla="*/ 1366806 h 2494612"/>
              <a:gd name="connsiteX21" fmla="*/ 515373 w 3211673"/>
              <a:gd name="connsiteY21" fmla="*/ 1389180 h 2494612"/>
              <a:gd name="connsiteX22" fmla="*/ 571372 w 3211673"/>
              <a:gd name="connsiteY22" fmla="*/ 1363056 h 2494612"/>
              <a:gd name="connsiteX23" fmla="*/ 873871 w 3211673"/>
              <a:gd name="connsiteY23" fmla="*/ 1277181 h 2494612"/>
              <a:gd name="connsiteX24" fmla="*/ 1251057 w 3211673"/>
              <a:gd name="connsiteY24" fmla="*/ 1450837 h 2494612"/>
              <a:gd name="connsiteX25" fmla="*/ 1415369 w 3211673"/>
              <a:gd name="connsiteY25" fmla="*/ 1863491 h 2494612"/>
              <a:gd name="connsiteX26" fmla="*/ 1226776 w 3211673"/>
              <a:gd name="connsiteY26" fmla="*/ 2304177 h 2494612"/>
              <a:gd name="connsiteX27" fmla="*/ 769309 w 3211673"/>
              <a:gd name="connsiteY27" fmla="*/ 2494613 h 2494612"/>
              <a:gd name="connsiteX28" fmla="*/ 227812 w 3211673"/>
              <a:gd name="connsiteY28" fmla="*/ 2236927 h 2494612"/>
              <a:gd name="connsiteX29" fmla="*/ 0 w 3211673"/>
              <a:gd name="connsiteY29" fmla="*/ 1546055 h 2494612"/>
              <a:gd name="connsiteX30" fmla="*/ 309936 w 3211673"/>
              <a:gd name="connsiteY30" fmla="*/ 642309 h 2494612"/>
              <a:gd name="connsiteX31" fmla="*/ 1288369 w 3211673"/>
              <a:gd name="connsiteY31" fmla="*/ 0 h 249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211673" h="2494612">
                <a:moveTo>
                  <a:pt x="3084610" y="0"/>
                </a:moveTo>
                <a:lnTo>
                  <a:pt x="3084610" y="182999"/>
                </a:lnTo>
                <a:cubicBezTo>
                  <a:pt x="2825652" y="277645"/>
                  <a:pt x="2622821" y="426320"/>
                  <a:pt x="2475926" y="629279"/>
                </a:cubicBezTo>
                <a:cubicBezTo>
                  <a:pt x="2328967" y="832237"/>
                  <a:pt x="2255615" y="1043204"/>
                  <a:pt x="2255615" y="1262244"/>
                </a:cubicBezTo>
                <a:cubicBezTo>
                  <a:pt x="2255615" y="1309535"/>
                  <a:pt x="2263115" y="1344432"/>
                  <a:pt x="2278053" y="1366806"/>
                </a:cubicBezTo>
                <a:cubicBezTo>
                  <a:pt x="2287969" y="1381743"/>
                  <a:pt x="2299156" y="1389180"/>
                  <a:pt x="2311678" y="1389180"/>
                </a:cubicBezTo>
                <a:cubicBezTo>
                  <a:pt x="2324200" y="1389180"/>
                  <a:pt x="2342824" y="1380472"/>
                  <a:pt x="2367677" y="1363056"/>
                </a:cubicBezTo>
                <a:cubicBezTo>
                  <a:pt x="2447322" y="1305785"/>
                  <a:pt x="2548198" y="1277181"/>
                  <a:pt x="2670176" y="1277181"/>
                </a:cubicBezTo>
                <a:cubicBezTo>
                  <a:pt x="2812113" y="1277181"/>
                  <a:pt x="2937778" y="1335088"/>
                  <a:pt x="3047362" y="1450837"/>
                </a:cubicBezTo>
                <a:cubicBezTo>
                  <a:pt x="3156882" y="1566586"/>
                  <a:pt x="3211673" y="1704201"/>
                  <a:pt x="3211673" y="1863491"/>
                </a:cubicBezTo>
                <a:cubicBezTo>
                  <a:pt x="3211673" y="2022781"/>
                  <a:pt x="3148745" y="2177177"/>
                  <a:pt x="3023080" y="2304177"/>
                </a:cubicBezTo>
                <a:cubicBezTo>
                  <a:pt x="2897352" y="2431177"/>
                  <a:pt x="2744863" y="2494613"/>
                  <a:pt x="2565614" y="2494613"/>
                </a:cubicBezTo>
                <a:cubicBezTo>
                  <a:pt x="2356490" y="2494613"/>
                  <a:pt x="2175970" y="2408739"/>
                  <a:pt x="2024116" y="2236927"/>
                </a:cubicBezTo>
                <a:cubicBezTo>
                  <a:pt x="1872263" y="2065178"/>
                  <a:pt x="1796305" y="1834888"/>
                  <a:pt x="1796305" y="1546055"/>
                </a:cubicBezTo>
                <a:cubicBezTo>
                  <a:pt x="1796305" y="1209931"/>
                  <a:pt x="1899595" y="908767"/>
                  <a:pt x="2106240" y="642309"/>
                </a:cubicBezTo>
                <a:cubicBezTo>
                  <a:pt x="2312822" y="375915"/>
                  <a:pt x="2638903" y="161896"/>
                  <a:pt x="3084610" y="0"/>
                </a:cubicBezTo>
                <a:moveTo>
                  <a:pt x="1288369" y="0"/>
                </a:moveTo>
                <a:lnTo>
                  <a:pt x="1288369" y="182999"/>
                </a:lnTo>
                <a:cubicBezTo>
                  <a:pt x="1029411" y="277645"/>
                  <a:pt x="826580" y="426320"/>
                  <a:pt x="679685" y="629279"/>
                </a:cubicBezTo>
                <a:cubicBezTo>
                  <a:pt x="532726" y="832237"/>
                  <a:pt x="459373" y="1043204"/>
                  <a:pt x="459373" y="1262244"/>
                </a:cubicBezTo>
                <a:cubicBezTo>
                  <a:pt x="459373" y="1309535"/>
                  <a:pt x="466810" y="1344432"/>
                  <a:pt x="481748" y="1366806"/>
                </a:cubicBezTo>
                <a:cubicBezTo>
                  <a:pt x="491664" y="1381743"/>
                  <a:pt x="502851" y="1389180"/>
                  <a:pt x="515373" y="1389180"/>
                </a:cubicBezTo>
                <a:cubicBezTo>
                  <a:pt x="527895" y="1389180"/>
                  <a:pt x="546519" y="1380472"/>
                  <a:pt x="571372" y="1363056"/>
                </a:cubicBezTo>
                <a:cubicBezTo>
                  <a:pt x="651017" y="1305785"/>
                  <a:pt x="751893" y="1277181"/>
                  <a:pt x="873871" y="1277181"/>
                </a:cubicBezTo>
                <a:cubicBezTo>
                  <a:pt x="1015745" y="1277181"/>
                  <a:pt x="1141473" y="1335088"/>
                  <a:pt x="1251057" y="1450837"/>
                </a:cubicBezTo>
                <a:cubicBezTo>
                  <a:pt x="1360577" y="1566586"/>
                  <a:pt x="1415369" y="1704201"/>
                  <a:pt x="1415369" y="1863491"/>
                </a:cubicBezTo>
                <a:cubicBezTo>
                  <a:pt x="1415369" y="2022781"/>
                  <a:pt x="1352441" y="2177177"/>
                  <a:pt x="1226776" y="2304177"/>
                </a:cubicBezTo>
                <a:cubicBezTo>
                  <a:pt x="1101047" y="2431177"/>
                  <a:pt x="948558" y="2494613"/>
                  <a:pt x="769309" y="2494613"/>
                </a:cubicBezTo>
                <a:cubicBezTo>
                  <a:pt x="560185" y="2494613"/>
                  <a:pt x="379601" y="2408739"/>
                  <a:pt x="227812" y="2236927"/>
                </a:cubicBezTo>
                <a:cubicBezTo>
                  <a:pt x="75958" y="2065115"/>
                  <a:pt x="0" y="1834888"/>
                  <a:pt x="0" y="1546055"/>
                </a:cubicBezTo>
                <a:cubicBezTo>
                  <a:pt x="0" y="1209931"/>
                  <a:pt x="103291" y="908767"/>
                  <a:pt x="309936" y="642309"/>
                </a:cubicBezTo>
                <a:cubicBezTo>
                  <a:pt x="516581" y="375915"/>
                  <a:pt x="842661" y="161896"/>
                  <a:pt x="1288369" y="0"/>
                </a:cubicBezTo>
              </a:path>
            </a:pathLst>
          </a:custGeom>
          <a:solidFill>
            <a:srgbClr val="F9C0A3"/>
          </a:solidFill>
          <a:ln w="6356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D4852BD-CB85-B2AC-9F35-2D61ECED3D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2192" y="5530362"/>
            <a:ext cx="6503818" cy="633046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+mn-lt"/>
              </a:defRPr>
            </a:lvl1pPr>
            <a:lvl2pPr marL="457200" indent="0">
              <a:buNone/>
              <a:defRPr>
                <a:latin typeface="Trebuchet MS" panose="020B0603020202020204" pitchFamily="34" charset="0"/>
              </a:defRPr>
            </a:lvl2pPr>
            <a:lvl3pPr marL="914400" indent="0">
              <a:buNone/>
              <a:defRPr>
                <a:latin typeface="Trebuchet MS" panose="020B0603020202020204" pitchFamily="34" charset="0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Namn/källa</a:t>
            </a:r>
          </a:p>
        </p:txBody>
      </p:sp>
      <p:sp>
        <p:nvSpPr>
          <p:cNvPr id="5" name="Platshållare för text 3">
            <a:extLst>
              <a:ext uri="{FF2B5EF4-FFF2-40B4-BE49-F238E27FC236}">
                <a16:creationId xmlns:a16="http://schemas.microsoft.com/office/drawing/2014/main" id="{4926F146-9D57-DF60-2129-83383BD0B1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52192" y="2931019"/>
            <a:ext cx="6503818" cy="2298700"/>
          </a:xfrm>
          <a:solidFill>
            <a:srgbClr val="FFFFFF"/>
          </a:solidFill>
        </p:spPr>
        <p:txBody>
          <a:bodyPr lIns="144000" tIns="144000" rIns="108000" bIns="14400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+mn-lt"/>
              </a:defRPr>
            </a:lvl2pPr>
            <a:lvl3pPr marL="1257300" indent="-342900">
              <a:buFont typeface="Arial" panose="020B0604020202020204" pitchFamily="34" charset="0"/>
              <a:buChar char="•"/>
              <a:defRPr sz="2400">
                <a:latin typeface="+mn-lt"/>
              </a:defRPr>
            </a:lvl3pPr>
            <a:lvl4pPr marL="1371600" indent="0">
              <a:buNone/>
              <a:defRPr>
                <a:latin typeface="Trebuchet MS" panose="020B0603020202020204" pitchFamily="34" charset="0"/>
              </a:defRPr>
            </a:lvl4pPr>
            <a:lvl5pPr marL="1828800" indent="0">
              <a:buNone/>
              <a:defRPr>
                <a:latin typeface="Trebuchet MS" panose="020B0603020202020204" pitchFamily="34" charset="0"/>
              </a:defRPr>
            </a:lvl5pPr>
          </a:lstStyle>
          <a:p>
            <a:pPr lvl="0"/>
            <a:r>
              <a:rPr lang="sv-SE" dirty="0"/>
              <a:t>Kortare citat</a:t>
            </a:r>
          </a:p>
        </p:txBody>
      </p:sp>
    </p:spTree>
    <p:extLst>
      <p:ext uri="{BB962C8B-B14F-4D97-AF65-F5344CB8AC3E}">
        <p14:creationId xmlns:p14="http://schemas.microsoft.com/office/powerpoint/2010/main" val="42872061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der + rubrik + k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344B7163-7B7B-0437-6672-4BC463ADFBEF}"/>
              </a:ext>
            </a:extLst>
          </p:cNvPr>
          <p:cNvSpPr/>
          <p:nvPr userDrawn="1"/>
        </p:nvSpPr>
        <p:spPr>
          <a:xfrm rot="16200000">
            <a:off x="6026690" y="-6027874"/>
            <a:ext cx="138617" cy="121920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6" name="Platshållare för text 6">
            <a:extLst>
              <a:ext uri="{FF2B5EF4-FFF2-40B4-BE49-F238E27FC236}">
                <a16:creationId xmlns:a16="http://schemas.microsoft.com/office/drawing/2014/main" id="{20432B66-C2C9-B93C-020D-125613F191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288817"/>
            <a:ext cx="10515600" cy="2333926"/>
          </a:xfrm>
        </p:spPr>
        <p:txBody>
          <a:bodyPr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E38E06B0-7B76-B93A-D4EA-6A4DDACC37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12142"/>
            <a:ext cx="10515600" cy="1093694"/>
          </a:xfrm>
        </p:spPr>
        <p:txBody>
          <a:bodyPr>
            <a:noAutofit/>
          </a:bodyPr>
          <a:lstStyle>
            <a:lvl1pPr algn="ctr"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9" name="Platshållare för bild 20">
            <a:extLst>
              <a:ext uri="{FF2B5EF4-FFF2-40B4-BE49-F238E27FC236}">
                <a16:creationId xmlns:a16="http://schemas.microsoft.com/office/drawing/2014/main" id="{2AF447EF-4912-496D-99EE-DA1B8F4DB6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5335" y="383766"/>
            <a:ext cx="3801122" cy="24453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11" name="Platshållare för bild 20">
            <a:extLst>
              <a:ext uri="{FF2B5EF4-FFF2-40B4-BE49-F238E27FC236}">
                <a16:creationId xmlns:a16="http://schemas.microsoft.com/office/drawing/2014/main" id="{5204BCF8-3D6A-1EED-63D8-6AF904EF558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95439" y="382910"/>
            <a:ext cx="3801122" cy="24453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12" name="Platshållare för bild 20">
            <a:extLst>
              <a:ext uri="{FF2B5EF4-FFF2-40B4-BE49-F238E27FC236}">
                <a16:creationId xmlns:a16="http://schemas.microsoft.com/office/drawing/2014/main" id="{B1F0CA5B-99D3-B495-7B39-16F326871B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65543" y="382909"/>
            <a:ext cx="3801122" cy="244539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dirty="0"/>
              <a:t>Klicka på ikonen för att infoga en bild, eller markera rutan, gå till infoga &gt; bilder (eller klicka på infoga bild </a:t>
            </a:r>
            <a:r>
              <a:rPr lang="sv-SE" dirty="0" err="1"/>
              <a:t>bildbank</a:t>
            </a:r>
            <a:r>
              <a:rPr lang="sv-SE" dirty="0"/>
              <a:t>).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05506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viktiga 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>
            <a:extLst>
              <a:ext uri="{FF2B5EF4-FFF2-40B4-BE49-F238E27FC236}">
                <a16:creationId xmlns:a16="http://schemas.microsoft.com/office/drawing/2014/main" id="{5A48C773-2E8A-C5F7-8554-9D94FC34E3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2" y="482357"/>
            <a:ext cx="11173635" cy="1100016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Lyft tre punkter i din presentation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2CD8160E-D89D-F03D-F53D-A0F8AEDEB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522" y="3271623"/>
            <a:ext cx="3537591" cy="3029329"/>
          </a:xfrm>
        </p:spPr>
        <p:txBody>
          <a:bodyPr lIns="144000" tIns="72000" rIns="108000" bIns="72000"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8895F7D1-726D-2726-441A-5EED4BE70D8B}"/>
              </a:ext>
            </a:extLst>
          </p:cNvPr>
          <p:cNvSpPr/>
          <p:nvPr userDrawn="1"/>
        </p:nvSpPr>
        <p:spPr>
          <a:xfrm>
            <a:off x="1834659" y="1720551"/>
            <a:ext cx="1263316" cy="12633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9" name="Ellips 8">
            <a:extLst>
              <a:ext uri="{FF2B5EF4-FFF2-40B4-BE49-F238E27FC236}">
                <a16:creationId xmlns:a16="http://schemas.microsoft.com/office/drawing/2014/main" id="{AA075589-1807-CD5C-92B1-833EECF9C4E7}"/>
              </a:ext>
            </a:extLst>
          </p:cNvPr>
          <p:cNvSpPr/>
          <p:nvPr userDrawn="1"/>
        </p:nvSpPr>
        <p:spPr>
          <a:xfrm>
            <a:off x="5652680" y="1720551"/>
            <a:ext cx="1263316" cy="12633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D990F8F4-C05C-8234-E189-CD02588973C2}"/>
              </a:ext>
            </a:extLst>
          </p:cNvPr>
          <p:cNvSpPr/>
          <p:nvPr userDrawn="1"/>
        </p:nvSpPr>
        <p:spPr>
          <a:xfrm>
            <a:off x="9470701" y="1722141"/>
            <a:ext cx="1263316" cy="12633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56DFCA48-6ABD-8DBD-4DFE-43B66AFB78EF}"/>
              </a:ext>
            </a:extLst>
          </p:cNvPr>
          <p:cNvSpPr txBox="1"/>
          <p:nvPr userDrawn="1"/>
        </p:nvSpPr>
        <p:spPr>
          <a:xfrm>
            <a:off x="2105369" y="2008307"/>
            <a:ext cx="72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latin typeface="+mj-lt"/>
              </a:rPr>
              <a:t>1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6C9390E8-3D00-E8F1-E98A-7792ED7BF7DD}"/>
              </a:ext>
            </a:extLst>
          </p:cNvPr>
          <p:cNvSpPr txBox="1"/>
          <p:nvPr userDrawn="1"/>
        </p:nvSpPr>
        <p:spPr>
          <a:xfrm>
            <a:off x="5923390" y="2008307"/>
            <a:ext cx="72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latin typeface="+mj-lt"/>
              </a:rPr>
              <a:t>2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5EE0AD7F-7206-A6CE-4CC9-D597A2972912}"/>
              </a:ext>
            </a:extLst>
          </p:cNvPr>
          <p:cNvSpPr txBox="1"/>
          <p:nvPr userDrawn="1"/>
        </p:nvSpPr>
        <p:spPr>
          <a:xfrm>
            <a:off x="9741411" y="2008307"/>
            <a:ext cx="721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latin typeface="+mj-lt"/>
              </a:rPr>
              <a:t>3</a:t>
            </a:r>
          </a:p>
        </p:txBody>
      </p:sp>
      <p:sp>
        <p:nvSpPr>
          <p:cNvPr id="2" name="Platshållare för text 6">
            <a:extLst>
              <a:ext uri="{FF2B5EF4-FFF2-40B4-BE49-F238E27FC236}">
                <a16:creationId xmlns:a16="http://schemas.microsoft.com/office/drawing/2014/main" id="{2B094E3A-F730-D695-99FE-A813B5FAD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5541" y="3268028"/>
            <a:ext cx="3537591" cy="3029329"/>
          </a:xfrm>
        </p:spPr>
        <p:txBody>
          <a:bodyPr lIns="144000" tIns="72000" rIns="108000" bIns="72000"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  <p:sp>
        <p:nvSpPr>
          <p:cNvPr id="12" name="Platshållare för text 6">
            <a:extLst>
              <a:ext uri="{FF2B5EF4-FFF2-40B4-BE49-F238E27FC236}">
                <a16:creationId xmlns:a16="http://schemas.microsoft.com/office/drawing/2014/main" id="{EA15EC1E-2096-2533-0844-AB66CF2098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3560" y="3268027"/>
            <a:ext cx="3537591" cy="3029329"/>
          </a:xfrm>
        </p:spPr>
        <p:txBody>
          <a:bodyPr lIns="144000" tIns="72000" rIns="108000" bIns="72000" numCol="1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Kortare text</a:t>
            </a:r>
          </a:p>
        </p:txBody>
      </p:sp>
    </p:spTree>
    <p:extLst>
      <p:ext uri="{BB962C8B-B14F-4D97-AF65-F5344CB8AC3E}">
        <p14:creationId xmlns:p14="http://schemas.microsoft.com/office/powerpoint/2010/main" val="1524470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te siffr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/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5A48C773-2E8A-C5F7-8554-9D94FC34E3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2" y="482356"/>
            <a:ext cx="11173635" cy="1100017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Lite siffror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B081055A-B98E-46DD-D26A-7B06A2F40E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2424" y="1848024"/>
            <a:ext cx="1449042" cy="923330"/>
          </a:xfrm>
        </p:spPr>
        <p:txBody>
          <a:bodyPr wrap="none" lIns="72000" numCol="1" anchor="ctr" anchorCtr="0">
            <a:spAutoFit/>
          </a:bodyPr>
          <a:lstStyle>
            <a:lvl1pPr marL="0" indent="0" algn="ctr">
              <a:buFontTx/>
              <a:buNone/>
              <a:defRPr sz="6000">
                <a:latin typeface="+mj-lt"/>
                <a:cs typeface="Times New Roman" panose="02020603050405020304" pitchFamily="18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150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Platshållare för text 6">
            <a:extLst>
              <a:ext uri="{FF2B5EF4-FFF2-40B4-BE49-F238E27FC236}">
                <a16:creationId xmlns:a16="http://schemas.microsoft.com/office/drawing/2014/main" id="{2CD8160E-D89D-F03D-F53D-A0F8AEDEB7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28407" y="1854905"/>
            <a:ext cx="1021040" cy="923330"/>
          </a:xfrm>
        </p:spPr>
        <p:txBody>
          <a:bodyPr wrap="none" lIns="72000" numCol="1" anchor="ctr" anchorCtr="0">
            <a:spAutoFit/>
          </a:bodyPr>
          <a:lstStyle>
            <a:lvl1pPr marL="0" indent="0" algn="ctr">
              <a:buFontTx/>
              <a:buNone/>
              <a:defRPr sz="6000">
                <a:latin typeface="+mj-lt"/>
                <a:cs typeface="Times New Roman" panose="02020603050405020304" pitchFamily="18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23</a:t>
            </a:r>
          </a:p>
        </p:txBody>
      </p:sp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AA0955C3-13BC-C4FC-0E47-CD888D9C35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66065" y="1848024"/>
            <a:ext cx="2174015" cy="923330"/>
          </a:xfrm>
        </p:spPr>
        <p:txBody>
          <a:bodyPr wrap="square" lIns="72000" numCol="1" anchor="ctr" anchorCtr="0">
            <a:spAutoFit/>
          </a:bodyPr>
          <a:lstStyle>
            <a:lvl1pPr marL="0" indent="0" algn="ctr">
              <a:buFontTx/>
              <a:buNone/>
              <a:defRPr sz="6000">
                <a:latin typeface="+mj-lt"/>
                <a:cs typeface="Times New Roman" panose="02020603050405020304" pitchFamily="18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1500</a:t>
            </a:r>
          </a:p>
        </p:txBody>
      </p:sp>
      <p:sp>
        <p:nvSpPr>
          <p:cNvPr id="6" name="Platshållare för text 6">
            <a:extLst>
              <a:ext uri="{FF2B5EF4-FFF2-40B4-BE49-F238E27FC236}">
                <a16:creationId xmlns:a16="http://schemas.microsoft.com/office/drawing/2014/main" id="{DA0E6ABD-A84F-AB15-584F-4ABC2FE57B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741" y="3037005"/>
            <a:ext cx="3072372" cy="3338638"/>
          </a:xfrm>
        </p:spPr>
        <p:txBody>
          <a:bodyPr lIns="144000" tIns="72000" rIns="108000" bIns="72000"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 text</a:t>
            </a:r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781F9B72-A723-4375-9B98-B2FDDD407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9814" y="3037005"/>
            <a:ext cx="3072372" cy="3338638"/>
          </a:xfrm>
        </p:spPr>
        <p:txBody>
          <a:bodyPr lIns="144000" tIns="72000" rIns="108000" bIns="72000"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 text</a:t>
            </a:r>
          </a:p>
        </p:txBody>
      </p:sp>
      <p:sp>
        <p:nvSpPr>
          <p:cNvPr id="10" name="Platshållare för text 6">
            <a:extLst>
              <a:ext uri="{FF2B5EF4-FFF2-40B4-BE49-F238E27FC236}">
                <a16:creationId xmlns:a16="http://schemas.microsoft.com/office/drawing/2014/main" id="{F1C7989F-16E9-F571-0964-93ED54325E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6887" y="3037005"/>
            <a:ext cx="3072372" cy="3338638"/>
          </a:xfrm>
        </p:spPr>
        <p:txBody>
          <a:bodyPr lIns="144000" tIns="72000" rIns="108000" bIns="72000" numCol="1">
            <a:no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800">
                <a:latin typeface="+mn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Kort text</a:t>
            </a:r>
          </a:p>
        </p:txBody>
      </p:sp>
    </p:spTree>
    <p:extLst>
      <p:ext uri="{BB962C8B-B14F-4D97-AF65-F5344CB8AC3E}">
        <p14:creationId xmlns:p14="http://schemas.microsoft.com/office/powerpoint/2010/main" val="33655051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Bildobjekt 7" descr="En bild som visar Färggrann, Syrenfärg, lila, skärmbild&#10;&#10;Automatiskt genererad beskrivning">
            <a:extLst>
              <a:ext uri="{FF2B5EF4-FFF2-40B4-BE49-F238E27FC236}">
                <a16:creationId xmlns:a16="http://schemas.microsoft.com/office/drawing/2014/main" id="{AFC85981-0A0E-4BE2-1E1F-FB7B330B4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"/>
          <a:stretch/>
        </p:blipFill>
        <p:spPr>
          <a:xfrm>
            <a:off x="10892091" y="1"/>
            <a:ext cx="1001148" cy="6857999"/>
          </a:xfrm>
          <a:prstGeom prst="rect">
            <a:avLst/>
          </a:prstGeom>
        </p:spPr>
      </p:pic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D96DE070-C0C8-911C-6FCF-11EE22107F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4" name="Bildobjekt 3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121CDD6A-A00E-F27C-96F8-6E2548CCDF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049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-3" y="0"/>
            <a:ext cx="1577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Bildobjekt 4" descr="En bild som visar Syrenfärg, Färggrann, lila, mönster&#10;&#10;Automatiskt genererad beskrivning">
            <a:extLst>
              <a:ext uri="{FF2B5EF4-FFF2-40B4-BE49-F238E27FC236}">
                <a16:creationId xmlns:a16="http://schemas.microsoft.com/office/drawing/2014/main" id="{A44EA8C2-FB73-9C18-B988-3ED3A87047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13238" y="0"/>
            <a:ext cx="1008221" cy="6858000"/>
          </a:xfrm>
          <a:prstGeom prst="rect">
            <a:avLst/>
          </a:prstGeom>
        </p:spPr>
      </p:pic>
      <p:sp>
        <p:nvSpPr>
          <p:cNvPr id="8" name="Platshållare för text 6">
            <a:extLst>
              <a:ext uri="{FF2B5EF4-FFF2-40B4-BE49-F238E27FC236}">
                <a16:creationId xmlns:a16="http://schemas.microsoft.com/office/drawing/2014/main" id="{825293B1-915F-D947-DB15-2905E17302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9" name="Bildobjekt 8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922D1A79-4C0E-033D-52B7-D5F57660E7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604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Bildobjekt 6" descr="En bild som visar Färggrann, Syrenfärg, lila, skärmbild&#10;&#10;Automatiskt genererad beskrivning">
            <a:extLst>
              <a:ext uri="{FF2B5EF4-FFF2-40B4-BE49-F238E27FC236}">
                <a16:creationId xmlns:a16="http://schemas.microsoft.com/office/drawing/2014/main" id="{1986D95D-C4E0-9E8C-37FE-61E8B59BE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/>
          <a:stretch/>
        </p:blipFill>
        <p:spPr>
          <a:xfrm>
            <a:off x="10813239" y="1"/>
            <a:ext cx="1080000" cy="6857999"/>
          </a:xfrm>
          <a:prstGeom prst="rect">
            <a:avLst/>
          </a:prstGeom>
        </p:spPr>
      </p:pic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A112BB4E-EDB3-EAE4-A28E-FB4851D008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9" name="Bildobjekt 8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206B6724-3CB9-E27C-2FEE-3FDE040B03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645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t avsnit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BCA9FECA-F2F3-BDF1-1371-D002ABBF7E4F}"/>
              </a:ext>
            </a:extLst>
          </p:cNvPr>
          <p:cNvSpPr>
            <a:spLocks/>
          </p:cNvSpPr>
          <p:nvPr userDrawn="1"/>
        </p:nvSpPr>
        <p:spPr>
          <a:xfrm rot="5400000">
            <a:off x="2706426" y="-2627573"/>
            <a:ext cx="6858000" cy="121131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7F032A2-D2BD-9822-82A0-E7D04DF9FD1E}"/>
              </a:ext>
            </a:extLst>
          </p:cNvPr>
          <p:cNvSpPr/>
          <p:nvPr userDrawn="1"/>
        </p:nvSpPr>
        <p:spPr>
          <a:xfrm>
            <a:off x="-3" y="0"/>
            <a:ext cx="157709" cy="6858000"/>
          </a:xfrm>
          <a:prstGeom prst="rect">
            <a:avLst/>
          </a:prstGeom>
          <a:solidFill>
            <a:srgbClr val="F9C0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Pil: femhörning 5">
            <a:extLst>
              <a:ext uri="{FF2B5EF4-FFF2-40B4-BE49-F238E27FC236}">
                <a16:creationId xmlns:a16="http://schemas.microsoft.com/office/drawing/2014/main" id="{83AB6B44-D756-4D88-854B-C173E83DC63A}"/>
              </a:ext>
            </a:extLst>
          </p:cNvPr>
          <p:cNvSpPr/>
          <p:nvPr userDrawn="1"/>
        </p:nvSpPr>
        <p:spPr>
          <a:xfrm>
            <a:off x="157708" y="2465504"/>
            <a:ext cx="10655531" cy="1926991"/>
          </a:xfrm>
          <a:prstGeom prst="homePlate">
            <a:avLst/>
          </a:prstGeom>
          <a:solidFill>
            <a:srgbClr val="F9C0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algn="l"/>
            <a:endParaRPr lang="sv-SE" sz="4400" b="1" dirty="0">
              <a:ln>
                <a:noFill/>
              </a:ln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Bildobjekt 7" descr="En bild som visar Färggrann, Syrenfärg, mönster, konst&#10;&#10;Automatiskt genererad beskrivning">
            <a:extLst>
              <a:ext uri="{FF2B5EF4-FFF2-40B4-BE49-F238E27FC236}">
                <a16:creationId xmlns:a16="http://schemas.microsoft.com/office/drawing/2014/main" id="{834BB200-4C57-B2B0-E270-7089752351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7" r="50000"/>
          <a:stretch/>
        </p:blipFill>
        <p:spPr>
          <a:xfrm>
            <a:off x="10813239" y="-1"/>
            <a:ext cx="1081872" cy="6858000"/>
          </a:xfrm>
          <a:prstGeom prst="rect">
            <a:avLst/>
          </a:prstGeom>
        </p:spPr>
      </p:pic>
      <p:sp>
        <p:nvSpPr>
          <p:cNvPr id="5" name="Platshållare för text 6">
            <a:extLst>
              <a:ext uri="{FF2B5EF4-FFF2-40B4-BE49-F238E27FC236}">
                <a16:creationId xmlns:a16="http://schemas.microsoft.com/office/drawing/2014/main" id="{162841B8-E145-F809-C6C0-E46B0F2A45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3571" y="3017741"/>
            <a:ext cx="6834616" cy="822515"/>
          </a:xfrm>
        </p:spPr>
        <p:txBody>
          <a:bodyPr wrap="square" lIns="144000" tIns="72000" rIns="108000" bIns="72000" numCol="1" anchor="ctr" anchorCtr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4400" b="1">
                <a:latin typeface="+mj-lt"/>
                <a:cs typeface="Times New Roman" panose="02020603050405020304" pitchFamily="18" charset="0"/>
              </a:defRPr>
            </a:lvl1pPr>
            <a:lvl2pPr>
              <a:defRPr sz="2400">
                <a:latin typeface="+mn-lt"/>
                <a:cs typeface="Arial" panose="020B0604020202020204" pitchFamily="34" charset="0"/>
              </a:defRPr>
            </a:lvl2pPr>
            <a:lvl3pPr>
              <a:defRPr sz="24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v-SE" dirty="0"/>
              <a:t>Nytt avsnitt</a:t>
            </a:r>
          </a:p>
        </p:txBody>
      </p:sp>
      <p:pic>
        <p:nvPicPr>
          <p:cNvPr id="9" name="Bildobjekt 8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FF5C55AE-F7D0-EB9C-A131-4313BFC8C2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53" y="2849007"/>
            <a:ext cx="986357" cy="11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59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turk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ED3D01E0-0012-E4ED-BFDB-FDF2D9C89D25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0A08233D-BD0B-55D9-D0FC-6EB794748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252056BB-3A93-3E42-91EB-38C593ED34DF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0588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5F60A1C-00CB-467D-16B2-46F7D5DBBC2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444F5E0-2257-5CA5-2B49-1AC260EDE5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99FD4288-7970-8793-BDEB-FF912A7E56C7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</p:spTree>
    <p:extLst>
      <p:ext uri="{BB962C8B-B14F-4D97-AF65-F5344CB8AC3E}">
        <p14:creationId xmlns:p14="http://schemas.microsoft.com/office/powerpoint/2010/main" val="35964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5F60A1C-00CB-467D-16B2-46F7D5DBBC2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242EEDF5-81D1-B120-A153-4599EFF81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CBE29F73-C104-0C13-837C-37F599342B0C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</p:spTree>
    <p:extLst>
      <p:ext uri="{BB962C8B-B14F-4D97-AF65-F5344CB8AC3E}">
        <p14:creationId xmlns:p14="http://schemas.microsoft.com/office/powerpoint/2010/main" val="3618045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5F60A1C-00CB-467D-16B2-46F7D5DBBC29}"/>
              </a:ext>
            </a:extLst>
          </p:cNvPr>
          <p:cNvSpPr/>
          <p:nvPr userDrawn="1"/>
        </p:nvSpPr>
        <p:spPr>
          <a:xfrm>
            <a:off x="0" y="0"/>
            <a:ext cx="15770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9D8C9A18-FA97-1C40-07E0-A3C80D835E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523" y="482356"/>
            <a:ext cx="10515600" cy="936869"/>
          </a:xfrm>
        </p:spPr>
        <p:txBody>
          <a:bodyPr>
            <a:noAutofit/>
          </a:bodyPr>
          <a:lstStyle>
            <a:lvl1pPr>
              <a:defRPr sz="44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Platshållare för diagram 2">
            <a:extLst>
              <a:ext uri="{FF2B5EF4-FFF2-40B4-BE49-F238E27FC236}">
                <a16:creationId xmlns:a16="http://schemas.microsoft.com/office/drawing/2014/main" id="{1BC1CDBE-80AC-FC8C-6A91-6B45050CECE7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697523" y="1595718"/>
            <a:ext cx="10515600" cy="4936844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000"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sv-SE" dirty="0"/>
              <a:t>Klicka på ikonen för att infoga ett diagram, eller klicka på Infoga &gt; Diagram</a:t>
            </a:r>
          </a:p>
        </p:txBody>
      </p:sp>
    </p:spTree>
    <p:extLst>
      <p:ext uri="{BB962C8B-B14F-4D97-AF65-F5344CB8AC3E}">
        <p14:creationId xmlns:p14="http://schemas.microsoft.com/office/powerpoint/2010/main" val="261781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logotyp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objekt 16" descr="En bild som visar klädsel, möbler, byggnad, person&#10;&#10;Automatiskt genererad beskrivning">
            <a:extLst>
              <a:ext uri="{FF2B5EF4-FFF2-40B4-BE49-F238E27FC236}">
                <a16:creationId xmlns:a16="http://schemas.microsoft.com/office/drawing/2014/main" id="{523A4904-2ACC-E413-0B82-ACB52F1F3F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Ellips 4">
            <a:extLst>
              <a:ext uri="{FF2B5EF4-FFF2-40B4-BE49-F238E27FC236}">
                <a16:creationId xmlns:a16="http://schemas.microsoft.com/office/drawing/2014/main" id="{CC0C9CB1-8FBE-71F1-8CCD-1EC5027EEA3A}"/>
              </a:ext>
            </a:extLst>
          </p:cNvPr>
          <p:cNvSpPr/>
          <p:nvPr userDrawn="1"/>
        </p:nvSpPr>
        <p:spPr>
          <a:xfrm>
            <a:off x="4644828" y="1270450"/>
            <a:ext cx="2985961" cy="4596276"/>
          </a:xfrm>
          <a:prstGeom prst="ellipse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glow rad="1117600">
              <a:schemeClr val="tx1">
                <a:alpha val="11000"/>
              </a:schemeClr>
            </a:glow>
            <a:outerShdw dist="50800" sx="1000" sy="1000" algn="ctr" rotWithShape="0">
              <a:srgbClr val="000000">
                <a:alpha val="0"/>
              </a:srgbClr>
            </a:outerShdw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206693B-0F09-AD22-FF87-ECB2C7C294DE}"/>
              </a:ext>
            </a:extLst>
          </p:cNvPr>
          <p:cNvSpPr/>
          <p:nvPr userDrawn="1"/>
        </p:nvSpPr>
        <p:spPr>
          <a:xfrm>
            <a:off x="4206825" y="0"/>
            <a:ext cx="3861966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2" name="Bildobjekt 11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09" y="1587809"/>
            <a:ext cx="3131198" cy="36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0799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logotyp li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objekt 18" descr="En bild som visar klädsel, skärmbild, person, gata&#10;&#10;Automatiskt genererad beskrivning">
            <a:extLst>
              <a:ext uri="{FF2B5EF4-FFF2-40B4-BE49-F238E27FC236}">
                <a16:creationId xmlns:a16="http://schemas.microsoft.com/office/drawing/2014/main" id="{9A9E1428-C546-303C-236A-CF4626B96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Ellips 12">
            <a:extLst>
              <a:ext uri="{FF2B5EF4-FFF2-40B4-BE49-F238E27FC236}">
                <a16:creationId xmlns:a16="http://schemas.microsoft.com/office/drawing/2014/main" id="{CC0C9CB1-8FBE-71F1-8CCD-1EC5027EEA3A}"/>
              </a:ext>
            </a:extLst>
          </p:cNvPr>
          <p:cNvSpPr/>
          <p:nvPr userDrawn="1"/>
        </p:nvSpPr>
        <p:spPr>
          <a:xfrm>
            <a:off x="4644828" y="1270450"/>
            <a:ext cx="2985961" cy="4596276"/>
          </a:xfrm>
          <a:prstGeom prst="ellipse">
            <a:avLst/>
          </a:prstGeom>
          <a:solidFill>
            <a:schemeClr val="tx1">
              <a:alpha val="14000"/>
            </a:schemeClr>
          </a:solidFill>
          <a:ln>
            <a:noFill/>
          </a:ln>
          <a:effectLst>
            <a:glow rad="1117600">
              <a:schemeClr val="tx1">
                <a:alpha val="11000"/>
              </a:schemeClr>
            </a:glow>
            <a:outerShdw dist="50800" sx="1000" sy="1000" algn="ctr" rotWithShape="0">
              <a:srgbClr val="000000">
                <a:alpha val="0"/>
              </a:srgbClr>
            </a:outerShdw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F206693B-0F09-AD22-FF87-ECB2C7C294DE}"/>
              </a:ext>
            </a:extLst>
          </p:cNvPr>
          <p:cNvSpPr/>
          <p:nvPr userDrawn="1"/>
        </p:nvSpPr>
        <p:spPr>
          <a:xfrm>
            <a:off x="4206825" y="0"/>
            <a:ext cx="38619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15" name="Bildobjekt 14" descr="En bild som visar Teckensnitt, text, Grafik, grafisk design&#10;&#10;Automatiskt genererad beskrivning">
            <a:extLst>
              <a:ext uri="{FF2B5EF4-FFF2-40B4-BE49-F238E27FC236}">
                <a16:creationId xmlns:a16="http://schemas.microsoft.com/office/drawing/2014/main" id="{520F1A27-7AE8-2D2D-98D8-4EA72B8C11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209" y="1587809"/>
            <a:ext cx="3131198" cy="368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590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00CF6F5-7DA8-BC32-D866-17EDE7A8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80C8212-F59D-DFD3-A298-ABC7391F0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/>
              <a:t>Klicka för att lägga till text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56F7AD8-E39D-1379-2C2D-5078CAA3B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23F9B-D362-4DD3-93C6-7E943C3933EC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CCF3FAD-BD73-1159-5758-3975E85B8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ABB6BCD-9CB5-26E5-3027-5F4AE90F4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0CEE9-417A-C549-8C5F-07F5B84EC48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579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8" r:id="rId2"/>
    <p:sldLayoutId id="2147483667" r:id="rId3"/>
    <p:sldLayoutId id="2147483705" r:id="rId4"/>
    <p:sldLayoutId id="2147483692" r:id="rId5"/>
    <p:sldLayoutId id="2147483660" r:id="rId6"/>
    <p:sldLayoutId id="2147483668" r:id="rId7"/>
    <p:sldLayoutId id="2147483669" r:id="rId8"/>
    <p:sldLayoutId id="2147483706" r:id="rId9"/>
    <p:sldLayoutId id="2147483695" r:id="rId10"/>
    <p:sldLayoutId id="2147483696" r:id="rId11"/>
    <p:sldLayoutId id="2147483697" r:id="rId12"/>
    <p:sldLayoutId id="2147483703" r:id="rId13"/>
    <p:sldLayoutId id="2147483701" r:id="rId14"/>
    <p:sldLayoutId id="2147483700" r:id="rId15"/>
    <p:sldLayoutId id="2147483702" r:id="rId16"/>
    <p:sldLayoutId id="2147483704" r:id="rId17"/>
    <p:sldLayoutId id="2147483662" r:id="rId18"/>
    <p:sldLayoutId id="2147483659" r:id="rId19"/>
    <p:sldLayoutId id="2147483688" r:id="rId20"/>
    <p:sldLayoutId id="2147483672" r:id="rId21"/>
    <p:sldLayoutId id="2147483653" r:id="rId22"/>
    <p:sldLayoutId id="2147483710" r:id="rId23"/>
    <p:sldLayoutId id="2147483711" r:id="rId24"/>
    <p:sldLayoutId id="2147483712" r:id="rId25"/>
    <p:sldLayoutId id="2147483683" r:id="rId26"/>
    <p:sldLayoutId id="2147483684" r:id="rId27"/>
    <p:sldLayoutId id="2147483685" r:id="rId28"/>
    <p:sldLayoutId id="2147483673" r:id="rId29"/>
    <p:sldLayoutId id="2147483693" r:id="rId30"/>
    <p:sldLayoutId id="2147483694" r:id="rId31"/>
    <p:sldLayoutId id="2147483671" r:id="rId32"/>
    <p:sldLayoutId id="2147483686" r:id="rId33"/>
    <p:sldLayoutId id="2147483687" r:id="rId34"/>
    <p:sldLayoutId id="2147483713" r:id="rId35"/>
    <p:sldLayoutId id="2147483670" r:id="rId36"/>
    <p:sldLayoutId id="2147483674" r:id="rId37"/>
    <p:sldLayoutId id="2147483675" r:id="rId38"/>
    <p:sldLayoutId id="2147483680" r:id="rId39"/>
    <p:sldLayoutId id="2147483681" r:id="rId40"/>
    <p:sldLayoutId id="2147483679" r:id="rId41"/>
    <p:sldLayoutId id="2147483707" r:id="rId42"/>
    <p:sldLayoutId id="2147483665" r:id="rId43"/>
    <p:sldLayoutId id="2147483666" r:id="rId44"/>
    <p:sldLayoutId id="2147483689" r:id="rId45"/>
    <p:sldLayoutId id="2147483708" r:id="rId46"/>
    <p:sldLayoutId id="2147483691" r:id="rId47"/>
    <p:sldLayoutId id="2147483677" r:id="rId4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6550E37-B489-48B8-F885-E27FAAB8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F3: Klasser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32927B1-160C-5314-CC8A-F48EF8747F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1389" y="3913313"/>
            <a:ext cx="6317332" cy="644004"/>
          </a:xfrm>
        </p:spPr>
        <p:txBody>
          <a:bodyPr/>
          <a:lstStyle/>
          <a:p>
            <a:r>
              <a:rPr lang="sv-SE" dirty="0"/>
              <a:t>Malmö universitet, Institutionen för datavetenskap och medieteknik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AA677A1-1833-69C8-8100-E1F031DAA9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sv-SE" dirty="0"/>
              <a:t>2025–11–12</a:t>
            </a:r>
          </a:p>
        </p:txBody>
      </p:sp>
    </p:spTree>
    <p:extLst>
      <p:ext uri="{BB962C8B-B14F-4D97-AF65-F5344CB8AC3E}">
        <p14:creationId xmlns:p14="http://schemas.microsoft.com/office/powerpoint/2010/main" val="391080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58808E4-2B80-2176-D23E-02B1AE3C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Innehåll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013BB0D-ACAB-A0C7-FE7D-847A55E421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2184016"/>
            <a:ext cx="9629186" cy="248996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2" action="ppaction://hlinksldjump"/>
              </a:rPr>
              <a:t>Objekt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3" action="ppaction://hlinksldjump"/>
              </a:rPr>
              <a:t>Skapa klasser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4" action="ppaction://hlinksldjump"/>
              </a:rPr>
              <a:t>Sammanfattning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22C7986-D560-C20A-9BA1-8E2AACDC6BD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875E9DF-E82D-4370-ACD2-5EA2A3A02DB7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CBCCE40-05DE-5A76-468F-2F995DC8E0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9EC8999-8AA0-91E3-FE77-762CBF7DFF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404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1ECF652B-3A13-7611-C86B-58C5245E69F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Objekt</a:t>
            </a:r>
          </a:p>
        </p:txBody>
      </p:sp>
    </p:spTree>
    <p:extLst>
      <p:ext uri="{BB962C8B-B14F-4D97-AF65-F5344CB8AC3E}">
        <p14:creationId xmlns:p14="http://schemas.microsoft.com/office/powerpoint/2010/main" val="8004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833BE64-0346-EE74-0057-17B663F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Innehåll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657B6E8-A6AB-B8FD-4440-3D4E5916D7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2662987"/>
            <a:ext cx="9629186" cy="15320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2" action="ppaction://hlinksldjump"/>
              </a:rPr>
              <a:t>Objekt sen tidigare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3" action="ppaction://hlinksldjump"/>
              </a:rPr>
              <a:t>Vad är ett objekt?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>
                <a:hlinkClick r:id="rId4" action="ppaction://hlinksldjump"/>
              </a:rPr>
              <a:t>Varför använda objekt?</a:t>
            </a:r>
            <a:endParaRPr lang="sv-SE" dirty="0"/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2599B5D-3593-C1F1-8390-1A155D17FE9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BFE3DFD-C619-4877-A99B-F1933442129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721AF0F-05A6-74CF-ADAC-7CCE294CD0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D8FE55F-9542-88C8-5297-C5099DB8AF5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970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31C7119-214B-8559-7705-7AC18C93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Objekt sen tidigare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7F00430-ABC0-FB46-CFAF-BEC806C61A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är allt man kan spara objekt.</a:t>
            </a:r>
          </a:p>
          <a:p>
            <a:r>
              <a:rPr lang="sv-SE" dirty="0"/>
              <a:t>Alla</a:t>
            </a:r>
            <a:r>
              <a:rPr lang="sv-SE" dirty="0"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sv-SE" dirty="0"/>
              <a:t> är objekt, alla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float</a:t>
            </a:r>
            <a:r>
              <a:rPr lang="sv-SE" dirty="0"/>
              <a:t>, och alla </a:t>
            </a:r>
            <a:r>
              <a:rPr lang="sv-SE" dirty="0" err="1">
                <a:solidFill>
                  <a:srgbClr val="002060"/>
                </a:solidFill>
                <a:latin typeface="Consolas" panose="020B0609020204030204" pitchFamily="49" charset="0"/>
              </a:rPr>
              <a:t>str</a:t>
            </a:r>
            <a:r>
              <a:rPr lang="sv-SE" dirty="0"/>
              <a:t> .</a:t>
            </a:r>
          </a:p>
          <a:p>
            <a:r>
              <a:rPr lang="sv-SE" dirty="0"/>
              <a:t>Lite förenklat kan man säga att allt man kan sätta en punkt efter är objekt.</a:t>
            </a:r>
          </a:p>
          <a:p>
            <a:r>
              <a:rPr lang="sv-SE" dirty="0"/>
              <a:t>I tidigare kurser har vi dock inte tittat på dem på det viset.</a:t>
            </a:r>
          </a:p>
          <a:p>
            <a:endParaRPr lang="sv-SE" dirty="0"/>
          </a:p>
          <a:p>
            <a:r>
              <a:rPr lang="sv-SE" dirty="0"/>
              <a:t>I Java är </a:t>
            </a:r>
            <a:r>
              <a:rPr lang="sv-SE" dirty="0" err="1">
                <a:solidFill>
                  <a:srgbClr val="002060"/>
                </a:solidFill>
                <a:latin typeface="Consolas" panose="020B0609020204030204" pitchFamily="49" charset="0"/>
              </a:rPr>
              <a:t>int</a:t>
            </a:r>
            <a:r>
              <a:rPr lang="sv-SE" dirty="0"/>
              <a:t>,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float</a:t>
            </a:r>
            <a:r>
              <a:rPr lang="sv-SE" dirty="0"/>
              <a:t>, och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double</a:t>
            </a:r>
            <a:r>
              <a:rPr lang="sv-SE" dirty="0"/>
              <a:t> så kallade </a:t>
            </a:r>
            <a:r>
              <a:rPr lang="sv-SE" i="1" dirty="0" err="1"/>
              <a:t>primitiver</a:t>
            </a:r>
            <a:r>
              <a:rPr lang="sv-SE" dirty="0"/>
              <a:t>, och mer </a:t>
            </a:r>
            <a:r>
              <a:rPr lang="sv-SE" dirty="0" err="1"/>
              <a:t>basic</a:t>
            </a:r>
            <a:r>
              <a:rPr lang="sv-SE" dirty="0"/>
              <a:t> än objekt</a:t>
            </a:r>
          </a:p>
          <a:p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String</a:t>
            </a:r>
            <a:r>
              <a:rPr lang="sv-SE" dirty="0"/>
              <a:t> är däremot objekt i Java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BF99E1E-646C-ACA8-6199-1D7B6FCB814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3C0C345-511A-B88B-89BD-43EA754133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E04A43D-9738-C1E4-41D0-A9472824297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352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0A4375-16E2-ED9D-0B7C-4A5B54BE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Saker vi kunde göra med </a:t>
            </a:r>
            <a:r>
              <a:rPr lang="sv-SE" dirty="0" err="1"/>
              <a:t>str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0556EC2-61CA-D0AE-36FE-6815FBA54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922425"/>
          </a:xfrm>
        </p:spPr>
        <p:txBody>
          <a:bodyPr/>
          <a:lstStyle/>
          <a:p>
            <a:r>
              <a:rPr lang="sv-SE" dirty="0"/>
              <a:t>Objekt har inbyggda </a:t>
            </a:r>
            <a:r>
              <a:rPr lang="sv-SE" i="1" dirty="0"/>
              <a:t>metoder</a:t>
            </a:r>
            <a:r>
              <a:rPr lang="sv-SE" dirty="0"/>
              <a:t> som är kommandon kopplade till objektet.</a:t>
            </a:r>
          </a:p>
          <a:p>
            <a:r>
              <a:rPr lang="sv-SE" dirty="0"/>
              <a:t>I </a:t>
            </a:r>
            <a:r>
              <a:rPr lang="sv-SE" dirty="0" err="1"/>
              <a:t>Python</a:t>
            </a:r>
            <a:r>
              <a:rPr lang="sv-SE" dirty="0"/>
              <a:t> kunde vi exempelvis skriva: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5028BB6-0906-37DC-3A7F-15EB824EAE1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CF94F3A-1467-8087-5EBE-CCCE74C0A6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6540DEA-D380-8ECF-4A7C-9DD860F59A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6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10286FFF-129B-5538-6650-AF077EDCF5D3}"/>
              </a:ext>
            </a:extLst>
          </p:cNvPr>
          <p:cNvSpPr txBox="1">
            <a:spLocks/>
          </p:cNvSpPr>
          <p:nvPr/>
        </p:nvSpPr>
        <p:spPr>
          <a:xfrm>
            <a:off x="1281407" y="2842264"/>
            <a:ext cx="9629186" cy="20345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svar = </a:t>
            </a:r>
            <a:r>
              <a:rPr lang="sv-SE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svar.isdigit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():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(svar, 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"innehåller bara siffror"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(svar, 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"innehåller något annat än siffror"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sv-SE" dirty="0"/>
          </a:p>
        </p:txBody>
      </p:sp>
      <p:sp>
        <p:nvSpPr>
          <p:cNvPr id="8" name="Platshållare för text 2">
            <a:extLst>
              <a:ext uri="{FF2B5EF4-FFF2-40B4-BE49-F238E27FC236}">
                <a16:creationId xmlns:a16="http://schemas.microsoft.com/office/drawing/2014/main" id="{A661F74E-3B5A-4293-3C16-708C831A859E}"/>
              </a:ext>
            </a:extLst>
          </p:cNvPr>
          <p:cNvSpPr txBox="1">
            <a:spLocks/>
          </p:cNvSpPr>
          <p:nvPr/>
        </p:nvSpPr>
        <p:spPr>
          <a:xfrm>
            <a:off x="1281407" y="5045533"/>
            <a:ext cx="9629186" cy="922425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Här är kommandot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080808"/>
                </a:solidFill>
                <a:latin typeface="Consolas" panose="020B0609020204030204" pitchFamily="49" charset="0"/>
              </a:rPr>
              <a:t>isdigit</a:t>
            </a:r>
            <a:r>
              <a:rPr lang="sv-SE" dirty="0"/>
              <a:t>() en metod kopplat till strängar.</a:t>
            </a:r>
          </a:p>
        </p:txBody>
      </p:sp>
    </p:spTree>
    <p:extLst>
      <p:ext uri="{BB962C8B-B14F-4D97-AF65-F5344CB8AC3E}">
        <p14:creationId xmlns:p14="http://schemas.microsoft.com/office/powerpoint/2010/main" val="253661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606C822-6D38-F311-55F9-FA5A5FEB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Vad är ett objekt?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8405BC3-D0C0-499F-6FF3-A2A7D9C65D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Ett objekt är en </a:t>
            </a:r>
            <a:r>
              <a:rPr lang="sv-SE" i="1" dirty="0"/>
              <a:t>instans</a:t>
            </a:r>
            <a:r>
              <a:rPr lang="sv-SE" dirty="0"/>
              <a:t> av en klass.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BD1F0EF-2357-7A55-8CBA-5CFACAEA2A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1F6F1C9-6440-9A23-7330-8E428B182A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7205F21-3B36-4A0B-937D-5AABF7278E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038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228B225-50F4-6341-A9B3-24B6D965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Vad är en klass?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E3BE35A-81E6-556F-BCF0-DE0100F2F6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En klass är en mall för att skapa objekt.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B63ACAD-C0ED-C62D-9D29-2BF2E499A55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8E150EA-B418-5C04-7F13-AE23828B3B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E060BD1-C455-A656-58A7-C463602DA1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842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63E4932-14B0-4007-CDAD-57AD30B9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Ett exempel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52A1269-4433-82FB-BB4A-3B2D4C5ADA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Tänk dig en cykel. Begreppet cykel är en klass.</a:t>
            </a:r>
          </a:p>
          <a:p>
            <a:r>
              <a:rPr lang="sv-SE" dirty="0"/>
              <a:t>En specifik cykel är ett objekt. Till exempel min cykel.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D869E02-DCA8-468D-5F94-41D3504BF2C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2FF290E-453A-C6FF-B120-363A08A003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B5AD8CB-443F-7830-805B-16D1F80EB7A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7545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9BD3EFF-283C-5390-B91F-2F6684DA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Ett exempel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D63E13C-F4D7-E4C4-86E3-1DE5165A8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Alla cyklar har vissa egenskaper, exempelvis färg och antal växlar. Dessa kallas </a:t>
            </a:r>
            <a:r>
              <a:rPr lang="sv-SE" i="1" dirty="0"/>
              <a:t>attribut.</a:t>
            </a:r>
          </a:p>
          <a:p>
            <a:r>
              <a:rPr lang="sv-SE" dirty="0"/>
              <a:t>Alla cyklar har också saker de kan göra, exempelvis rulla och bromsa. Dessa</a:t>
            </a:r>
          </a:p>
          <a:p>
            <a:r>
              <a:rPr lang="sv-SE" dirty="0"/>
              <a:t>kallas </a:t>
            </a:r>
            <a:r>
              <a:rPr lang="sv-SE" i="1" dirty="0"/>
              <a:t>operationer.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897A1A3-8821-58E0-7AB2-402FB90008F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2D39DA7-8FD4-6875-5E7D-E26E23FA55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BF0691D-5887-71DF-1E89-AE9E6DEA088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6652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5F3D20-34AF-28F5-7FCE-CB7784D7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Varför använda objekt?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86AF2D1-5E5B-2C1D-5973-A22AD26096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Objekt hjälper oss att strukturera och organisera vår kod.</a:t>
            </a:r>
          </a:p>
          <a:p>
            <a:r>
              <a:rPr lang="sv-SE" dirty="0"/>
              <a:t>Objekt kan användas för att modellera verkliga saker och koncept.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EC7720A-3512-8156-8D34-834B96393E5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9938775-D52A-A576-ED7B-0092D9B200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C6C3ACB-DECD-EE3E-6183-65A7E4F839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34052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5E5DA6F-7750-EE3C-54C9-28D55E6C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Varför använda objekt? Ett exempel 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F5DE2DB-5AEE-8E9E-D614-5F33BCEF34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Tänk att vi ska skapa ett program för att hantera cyklar.</a:t>
            </a:r>
          </a:p>
          <a:p>
            <a:r>
              <a:rPr lang="sv-SE" dirty="0"/>
              <a:t>Vi hade då haft två alternativ:</a:t>
            </a:r>
          </a:p>
          <a:p>
            <a:pPr marL="457200" indent="-457200">
              <a:buAutoNum type="arabicPeriod"/>
            </a:pPr>
            <a:r>
              <a:rPr lang="sv-SE" dirty="0"/>
              <a:t>Skapa variabler och funktioner för varje cykel</a:t>
            </a:r>
          </a:p>
          <a:p>
            <a:pPr marL="457200" indent="-457200">
              <a:buAutoNum type="arabicPeriod"/>
            </a:pPr>
            <a:r>
              <a:rPr lang="sv-SE" dirty="0"/>
              <a:t>Skapa en klass </a:t>
            </a:r>
            <a:r>
              <a:rPr lang="sv-SE" dirty="0">
                <a:latin typeface="Consolas" panose="020B0609020204030204" pitchFamily="49" charset="0"/>
              </a:rPr>
              <a:t>Cykel</a:t>
            </a:r>
            <a:r>
              <a:rPr lang="sv-SE" dirty="0"/>
              <a:t> och sedan skapa objekt av den klassen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7FE878D-6494-DEB5-7345-C0C5BEB2516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6409065-32EF-393C-5277-8704F9D8E71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1D42766-3DF2-9102-852A-23E190F71F1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873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70F050DF-EDAA-EE48-726A-A442E1AC34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Skapa klasser</a:t>
            </a:r>
          </a:p>
        </p:txBody>
      </p:sp>
    </p:spTree>
    <p:extLst>
      <p:ext uri="{BB962C8B-B14F-4D97-AF65-F5344CB8AC3E}">
        <p14:creationId xmlns:p14="http://schemas.microsoft.com/office/powerpoint/2010/main" val="2324233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CCE201B-9141-B85A-61E1-750F7CC0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Innehåll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FBF8FBE-C75B-AB2F-E41D-CC43E474EF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Skapa klasser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 err="1"/>
              <a:t>Konstruktor</a:t>
            </a:r>
            <a:endParaRPr lang="sv-S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Attribut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Operationer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Åtkomstidentifierare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DB0C908-51CD-E6F1-199F-0CF8720BE9F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1C783C0-0C94-4B18-8659-FFB5A74269E0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A515EE0-9166-B2C9-A86A-1D86F37183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F224DDD-AC65-3228-620D-D1F00155AA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19164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92D2217-7949-27E3-CBB4-EA2A0A45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Skapa klasser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10A43AE-1F08-5C9D-91FB-9FB7BC1620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I Java behöver varje klass ligga i sin egen fil.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Varje fil måste heta samma sak som klassen.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6D63AF7-149B-F65B-AF5C-4B092872FA9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0D69831-E781-4F0B-4B59-027AA1F1AB3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B948268-E9CB-5202-CC3F-692433B5F35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762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022ECB6-3FD6-EBC4-7AE7-13294B31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Skapa klasser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5033A2A-72C0-3F18-75C2-0E49876F86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0703" y="1367927"/>
            <a:ext cx="10910593" cy="5224462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Attribut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Attribut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v-SE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Konstruktor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roll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Operation / metod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"Cykeln rullar"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brake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Operation / metod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"Cykeln bromsar."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CCC9F7F-D6D8-9F03-EF1D-9AF27C11E7B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7C1ABE3-AB2F-80E5-EC1F-74FFD694F20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2E5B7B-314C-7884-4861-224249E152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0054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F0682ED-2CEB-5B33-1A00-150FC8521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Skapa objekt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513F8E4A-F010-683E-4156-849D587AA5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2002288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Bike(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"svart"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yourBike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Bike(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"röd"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.roll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yourBike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.brake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CE1CA72-F868-2E14-7109-3899A3C9259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F03A4BE-2920-DC2E-3585-218A924898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B908DC1-9FBA-2127-E83A-1F8C7211453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17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29B30004-AF65-48AB-67A6-540EACDDF78D}"/>
              </a:ext>
            </a:extLst>
          </p:cNvPr>
          <p:cNvSpPr txBox="1">
            <a:spLocks/>
          </p:cNvSpPr>
          <p:nvPr/>
        </p:nvSpPr>
        <p:spPr>
          <a:xfrm>
            <a:off x="1281407" y="3922126"/>
            <a:ext cx="9629186" cy="2323285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I koden ovan </a:t>
            </a:r>
            <a:r>
              <a:rPr lang="sv-SE" i="1" dirty="0" err="1"/>
              <a:t>instansierar</a:t>
            </a:r>
            <a:r>
              <a:rPr lang="sv-SE" i="1" dirty="0"/>
              <a:t> </a:t>
            </a:r>
            <a:r>
              <a:rPr lang="sv-SE" dirty="0"/>
              <a:t>vi två objekt av klassen </a:t>
            </a:r>
            <a:r>
              <a:rPr lang="sv-SE" dirty="0">
                <a:latin typeface="Consolas" panose="020B0609020204030204" pitchFamily="49" charset="0"/>
              </a:rPr>
              <a:t>Bike</a:t>
            </a:r>
            <a:r>
              <a:rPr lang="sv-SE" dirty="0"/>
              <a:t>.</a:t>
            </a:r>
          </a:p>
          <a:p>
            <a:r>
              <a:rPr lang="sv-SE" dirty="0"/>
              <a:t>Sen använder vi objekten genom att anropa deras operationer/metoder</a:t>
            </a:r>
          </a:p>
        </p:txBody>
      </p:sp>
    </p:spTree>
    <p:extLst>
      <p:ext uri="{BB962C8B-B14F-4D97-AF65-F5344CB8AC3E}">
        <p14:creationId xmlns:p14="http://schemas.microsoft.com/office/powerpoint/2010/main" val="2136617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2464286-D3EF-BF95-F679-21F09812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Konstruktor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4627533-E77C-3EE5-25A2-36F77304B2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2289671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		// </a:t>
            </a:r>
            <a:r>
              <a:rPr lang="sv-SE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goes </a:t>
            </a:r>
            <a:r>
              <a:rPr lang="sv-SE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here</a:t>
            </a:r>
            <a:endParaRPr lang="sv-SE" i="1" dirty="0">
              <a:solidFill>
                <a:srgbClr val="8C8C8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	} 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sv-SE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endParaRPr lang="sv-SE" dirty="0">
              <a:solidFill>
                <a:srgbClr val="080808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A039184-1D3C-C38F-959D-0F9E9AE37FA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5AB901-6C40-E96E-A27C-A4885EB26A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8E3033E-17CE-E2CA-6578-F3F173CBF9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18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9DA46CB6-FDEC-34EB-7431-7275FDD5BF2D}"/>
              </a:ext>
            </a:extLst>
          </p:cNvPr>
          <p:cNvSpPr txBox="1">
            <a:spLocks/>
          </p:cNvSpPr>
          <p:nvPr/>
        </p:nvSpPr>
        <p:spPr>
          <a:xfrm>
            <a:off x="1281407" y="4209510"/>
            <a:ext cx="9629186" cy="2035902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En </a:t>
            </a:r>
            <a:r>
              <a:rPr lang="sv-SE" dirty="0" err="1"/>
              <a:t>konstruktor</a:t>
            </a:r>
            <a:r>
              <a:rPr lang="sv-SE" dirty="0"/>
              <a:t> är en metod som anropas när ett objekt skapas.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 err="1"/>
              <a:t>Konstruktorn</a:t>
            </a:r>
            <a:r>
              <a:rPr lang="sv-SE" dirty="0"/>
              <a:t> har samma namn som klassen och saknar returtyp.</a:t>
            </a:r>
          </a:p>
        </p:txBody>
      </p:sp>
    </p:spTree>
    <p:extLst>
      <p:ext uri="{BB962C8B-B14F-4D97-AF65-F5344CB8AC3E}">
        <p14:creationId xmlns:p14="http://schemas.microsoft.com/office/powerpoint/2010/main" val="2239384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864B030-1B55-5261-A881-0E1EF064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Konstruktor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548E854-FD07-EEC1-0262-5D1563D9C7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167789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en-US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i="1" dirty="0" err="1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Konstruktor</a:t>
            </a:r>
            <a:b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en-US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en-US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1166A5E-A1F2-8A53-48F9-4A8E132EE72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232942E-4D6C-0C69-834D-B28EBDAB0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32213B6-24BD-6580-0D1E-BC372297EC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19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C7767C8F-4029-DF79-15A9-00246CE33AAE}"/>
              </a:ext>
            </a:extLst>
          </p:cNvPr>
          <p:cNvSpPr txBox="1">
            <a:spLocks/>
          </p:cNvSpPr>
          <p:nvPr/>
        </p:nvSpPr>
        <p:spPr>
          <a:xfrm>
            <a:off x="1281407" y="3597733"/>
            <a:ext cx="9629186" cy="2647679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I </a:t>
            </a:r>
            <a:r>
              <a:rPr lang="sv-SE" dirty="0" err="1"/>
              <a:t>konstruktorn</a:t>
            </a:r>
            <a:r>
              <a:rPr lang="sv-SE" dirty="0"/>
              <a:t> brukar vi vätta värden på objektets attribut.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Nyckelordet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sv-SE" dirty="0"/>
              <a:t> refererar till det aktuella objektet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Om vi inte använder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sv-SE" dirty="0"/>
              <a:t> skulle vi referera till parametrarna. Ha för vana att alltid använda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sv-SE" dirty="0"/>
              <a:t> när du refererar till attribut.</a:t>
            </a:r>
          </a:p>
        </p:txBody>
      </p:sp>
    </p:spTree>
    <p:extLst>
      <p:ext uri="{BB962C8B-B14F-4D97-AF65-F5344CB8AC3E}">
        <p14:creationId xmlns:p14="http://schemas.microsoft.com/office/powerpoint/2010/main" val="51854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5A283FF-D33F-1B43-E9ED-8630B722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Konstruktor</a:t>
            </a:r>
            <a:r>
              <a:rPr lang="sv-SE" dirty="0"/>
              <a:t>: Flera </a:t>
            </a:r>
            <a:r>
              <a:rPr lang="sv-SE" dirty="0" err="1"/>
              <a:t>konstruktorer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C407D477-49F5-29EA-B73F-0F7B1AC573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Attribut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Attribut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Bike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// Tom parameterlista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"svart"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// </a:t>
            </a:r>
            <a:r>
              <a:rPr lang="sv-SE" i="1" dirty="0" err="1">
                <a:solidFill>
                  <a:srgbClr val="8C8C8C"/>
                </a:solidFill>
                <a:latin typeface="Consolas" panose="020B0609020204030204" pitchFamily="49" charset="0"/>
              </a:rPr>
              <a:t>params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A572672-0675-5A36-0DB7-44D306F9E2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865D04E-5244-E6E3-F780-52544727A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9DA67CD-33F0-D11F-63C8-417456E0E55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97284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F1CBA8D-BBF2-748A-6D03-226D1160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Attribut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B504963-EF16-E980-7CDC-AA4B9EE8FA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957260"/>
          </a:xfrm>
        </p:spPr>
        <p:txBody>
          <a:bodyPr/>
          <a:lstStyle/>
          <a:p>
            <a:r>
              <a:rPr lang="sv-SE" dirty="0"/>
              <a:t>En variabel som är deklarerad i en klass kallas för ett </a:t>
            </a:r>
            <a:r>
              <a:rPr lang="sv-SE" i="1" dirty="0"/>
              <a:t>attribut</a:t>
            </a:r>
            <a:r>
              <a:rPr lang="sv-SE" dirty="0"/>
              <a:t>.</a:t>
            </a:r>
          </a:p>
          <a:p>
            <a:r>
              <a:rPr lang="sv-SE" dirty="0"/>
              <a:t>Attribut brukar deklareras överst i klassen.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01E58F8-6763-0481-D392-B879043FEB8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FDB5082-D0DC-AF10-2A1B-4111EC2658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01D4D20-5AD2-507A-9E1E-AFD411C5CB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21</a:t>
            </a:fld>
            <a:endParaRPr lang="sv-SE"/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B25DE25F-C917-7C98-02EB-02D951E5E496}"/>
              </a:ext>
            </a:extLst>
          </p:cNvPr>
          <p:cNvSpPr txBox="1"/>
          <p:nvPr/>
        </p:nvSpPr>
        <p:spPr>
          <a:xfrm>
            <a:off x="1281407" y="2708366"/>
            <a:ext cx="9629186" cy="36881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public </a:t>
            </a:r>
            <a:r>
              <a:rPr kumimoji="0" lang="sv-S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class</a:t>
            </a: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Bike </a:t>
            </a: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{</a:t>
            </a:r>
          </a:p>
          <a:p>
            <a:pPr lvl="0">
              <a:spcBef>
                <a:spcPts val="1000"/>
              </a:spcBef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</a:t>
            </a:r>
            <a:r>
              <a:rPr lang="sv-SE" sz="2400" dirty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sv-SE" sz="24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sv-SE" sz="2400" dirty="0" err="1">
                <a:solidFill>
                  <a:srgbClr val="871094"/>
                </a:solidFill>
                <a:latin typeface="Consolas" panose="020B0609020204030204" pitchFamily="49" charset="0"/>
              </a:rPr>
              <a:t>colour</a:t>
            </a:r>
            <a:r>
              <a:rPr lang="sv-SE" sz="24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v-SE" sz="240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i="1" dirty="0">
                <a:solidFill>
                  <a:srgbClr val="8C8C8C"/>
                </a:solidFill>
                <a:latin typeface="Consolas" panose="020B0609020204030204" pitchFamily="49" charset="0"/>
              </a:rPr>
              <a:t>// Attribut</a:t>
            </a:r>
            <a:br>
              <a:rPr lang="sv-SE" sz="2400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sz="2400" i="1" dirty="0">
                <a:solidFill>
                  <a:srgbClr val="8C8C8C"/>
                </a:solidFill>
                <a:latin typeface="Consolas" panose="020B0609020204030204" pitchFamily="49" charset="0"/>
              </a:rPr>
              <a:t>    	</a:t>
            </a:r>
            <a:r>
              <a:rPr lang="sv-SE" sz="2400" dirty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sv-SE" sz="2400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sz="24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sz="2400" dirty="0" err="1">
                <a:solidFill>
                  <a:srgbClr val="871094"/>
                </a:solidFill>
                <a:latin typeface="Consolas" panose="020B0609020204030204" pitchFamily="49" charset="0"/>
              </a:rPr>
              <a:t>gears</a:t>
            </a:r>
            <a:r>
              <a:rPr lang="sv-SE" sz="2400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v-SE" sz="2400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sz="2400" i="1" dirty="0">
                <a:solidFill>
                  <a:srgbClr val="8C8C8C"/>
                </a:solidFill>
                <a:latin typeface="Consolas" panose="020B0609020204030204" pitchFamily="49" charset="0"/>
              </a:rPr>
              <a:t>// Attribut</a:t>
            </a:r>
          </a:p>
          <a:p>
            <a:pPr lvl="0">
              <a:spcBef>
                <a:spcPts val="1000"/>
              </a:spcBef>
              <a:defRPr/>
            </a:pPr>
            <a:endParaRPr kumimoji="0" lang="sv-SE" sz="2400" b="0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public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Bike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String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colour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int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gears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	// </a:t>
            </a:r>
            <a:r>
              <a:rPr kumimoji="0" lang="sv-S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Code</a:t>
            </a:r>
            <a:r>
              <a:rPr kumimoji="0" lang="sv-SE" sz="240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 goes </a:t>
            </a:r>
            <a:r>
              <a:rPr kumimoji="0" lang="sv-S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here</a:t>
            </a:r>
            <a:endParaRPr kumimoji="0" lang="sv-SE" sz="2400" b="0" i="1" u="none" strike="noStrike" kern="1200" cap="none" spc="0" normalizeH="0" baseline="0" noProof="0" dirty="0">
              <a:ln>
                <a:noFill/>
              </a:ln>
              <a:solidFill>
                <a:srgbClr val="8C8C8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} </a:t>
            </a:r>
            <a:b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</a:b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531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04FF0C5-822E-713E-1D63-D34DC829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Attribut: Åtkomstmodifierare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50D6600-73C8-0FE3-A708-CE21693757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Kommandona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private</a:t>
            </a:r>
            <a:r>
              <a:rPr lang="sv-SE" dirty="0"/>
              <a:t> och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public</a:t>
            </a:r>
            <a:r>
              <a:rPr lang="sv-SE" dirty="0"/>
              <a:t> kallas åtkomstmodifierare.</a:t>
            </a:r>
          </a:p>
          <a:p>
            <a:r>
              <a:rPr lang="sv-SE" dirty="0"/>
              <a:t>Attribut bör nästan alltid vara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private</a:t>
            </a:r>
            <a:r>
              <a:rPr lang="sv-SE" dirty="0"/>
              <a:t>.</a:t>
            </a:r>
          </a:p>
          <a:p>
            <a:r>
              <a:rPr lang="sv-SE" dirty="0"/>
              <a:t>Ett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private</a:t>
            </a:r>
            <a:r>
              <a:rPr lang="sv-SE" dirty="0"/>
              <a:t> attribut kan endas nås inifrån klassen.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2121E94-996B-6C93-DADA-4DE72CDEA1C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85F6729-894C-67B6-0703-ADDF78E2DC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9DA1ABE-2A4F-7D4B-2A6D-0A271181D5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028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AB113CC-854F-C7FE-F557-058C87B4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Operationer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990222C-B92B-A487-D65E-F5EE736AD5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469580"/>
          </a:xfrm>
        </p:spPr>
        <p:txBody>
          <a:bodyPr/>
          <a:lstStyle/>
          <a:p>
            <a:r>
              <a:rPr lang="sv-SE" dirty="0"/>
              <a:t>En metod som är deklarerad i en klass kallas för en </a:t>
            </a:r>
            <a:r>
              <a:rPr lang="sv-SE" i="1" dirty="0"/>
              <a:t>operation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C23C9C-3425-2641-0420-E28CAB0D92E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46C7E6E-8CEE-3BFE-CB29-0C34AF79D9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5463E65-63C1-1A09-54B5-9E5FF8BF132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23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58BDE436-5569-2298-3123-A6DDAEF98380}"/>
              </a:ext>
            </a:extLst>
          </p:cNvPr>
          <p:cNvSpPr txBox="1">
            <a:spLocks/>
          </p:cNvSpPr>
          <p:nvPr/>
        </p:nvSpPr>
        <p:spPr>
          <a:xfrm>
            <a:off x="1281407" y="2286683"/>
            <a:ext cx="9629186" cy="39225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roll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Operation / metod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"Cykeln rullar"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brake</a:t>
            </a:r>
            <a:r>
              <a:rPr lang="sv-SE" dirty="0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Operation / metod</a:t>
            </a:r>
            <a:b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"Cykeln bromsar."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v-SE" i="1" dirty="0"/>
          </a:p>
        </p:txBody>
      </p:sp>
    </p:spTree>
    <p:extLst>
      <p:ext uri="{BB962C8B-B14F-4D97-AF65-F5344CB8AC3E}">
        <p14:creationId xmlns:p14="http://schemas.microsoft.com/office/powerpoint/2010/main" val="3346154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FF8B7B5-2230-0279-5C1A-6D04B656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Operationer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0CF4A4D-BC5F-843A-15C2-E1A8C8FC81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939843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Bike(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"svart"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.roll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D678CAF-173C-FC12-3BB5-2074A6D3DE9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CDCDBDD-98D6-E0AC-31F6-A84BEF6058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086A7BE-1C2C-EBB8-44A3-652901D913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24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2E6CDAA7-AE5E-77A4-82BB-E0B1046833BC}"/>
              </a:ext>
            </a:extLst>
          </p:cNvPr>
          <p:cNvSpPr txBox="1">
            <a:spLocks/>
          </p:cNvSpPr>
          <p:nvPr/>
        </p:nvSpPr>
        <p:spPr>
          <a:xfrm>
            <a:off x="1281407" y="2859682"/>
            <a:ext cx="9629186" cy="1366563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/>
              <a:t>Precis som att vi skriver </a:t>
            </a:r>
            <a:r>
              <a:rPr lang="sv-SE" dirty="0" err="1">
                <a:latin typeface="Consolas" panose="020B0609020204030204" pitchFamily="49" charset="0"/>
              </a:rPr>
              <a:t>input.nextInt</a:t>
            </a:r>
            <a:r>
              <a:rPr lang="sv-SE" dirty="0">
                <a:latin typeface="Consolas" panose="020B0609020204030204" pitchFamily="49" charset="0"/>
              </a:rPr>
              <a:t>() </a:t>
            </a:r>
            <a:r>
              <a:rPr lang="sv-SE" dirty="0"/>
              <a:t>för att anropa metoden </a:t>
            </a:r>
            <a:r>
              <a:rPr lang="sv-SE" dirty="0" err="1">
                <a:latin typeface="Consolas" panose="020B0609020204030204" pitchFamily="49" charset="0"/>
              </a:rPr>
              <a:t>nextInt</a:t>
            </a:r>
            <a:r>
              <a:rPr lang="sv-SE" dirty="0"/>
              <a:t> skriver vi </a:t>
            </a:r>
            <a:r>
              <a:rPr lang="sv-SE" dirty="0" err="1">
                <a:latin typeface="Consolas" panose="020B0609020204030204" pitchFamily="49" charset="0"/>
              </a:rPr>
              <a:t>myBike.roll</a:t>
            </a:r>
            <a:r>
              <a:rPr lang="sv-SE" dirty="0">
                <a:latin typeface="Consolas" panose="020B0609020204030204" pitchFamily="49" charset="0"/>
              </a:rPr>
              <a:t>() </a:t>
            </a:r>
            <a:r>
              <a:rPr lang="sv-SE" dirty="0"/>
              <a:t>för att anropa metoden </a:t>
            </a:r>
            <a:r>
              <a:rPr lang="sv-SE" dirty="0">
                <a:latin typeface="Consolas" panose="020B0609020204030204" pitchFamily="49" charset="0"/>
              </a:rPr>
              <a:t>roll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5561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6A99B65-B0C8-D1AB-1E1C-0F026D8A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Operationer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C70CA69-4181-635F-278D-00747122A6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/>
              <a:t>I övrigt fungerar operationer som vanliga metoder (eller funktioner).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99050CD-1A57-30F0-E6DA-D3D6DDB011C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139A28F-1218-379C-37DF-24FA3B6A02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48B1C96-0D59-6361-4841-63E4775C6D9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2229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BCB5BC8-1213-8564-3478-C3134C84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Åtkomstidentifierare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3AED899A-67A1-C4DF-5076-B1B3285DD5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582373"/>
            <a:ext cx="9629186" cy="4313329"/>
          </a:xfrm>
        </p:spPr>
        <p:txBody>
          <a:bodyPr anchor="ctr"/>
          <a:lstStyle/>
          <a:p>
            <a:r>
              <a:rPr lang="sv-SE" dirty="0"/>
              <a:t>Ett attribut eller en operation med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public</a:t>
            </a:r>
            <a:r>
              <a:rPr lang="sv-SE" dirty="0"/>
              <a:t> åtkomstidentifierare kan nås från andra klasser.</a:t>
            </a:r>
          </a:p>
          <a:p>
            <a:r>
              <a:rPr lang="sv-SE" dirty="0"/>
              <a:t>Ett attribut eller en operation med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private</a:t>
            </a:r>
            <a:r>
              <a:rPr lang="sv-SE" dirty="0"/>
              <a:t> åtkomstidentifierare kan endast nås inom den egna klassen.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BE9BEE2-C8E6-02BB-1925-D1200E0636B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A0EC70C-56DC-395D-D415-719B336E7C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C2E1C96-4B90-18CA-A92B-3993B1537B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924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8373F33-CBB9-CAF3-4746-1BE03CC86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Åtkomstidentifierare: exempel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E18B042-0F12-BD27-D0A8-A85E3E1D9D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822610"/>
            <a:ext cx="9629186" cy="321278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class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871094"/>
                </a:solidFill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// Publikt attribut</a:t>
            </a:r>
            <a:b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871094"/>
                </a:solidFill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; </a:t>
            </a: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// Privat attribut</a:t>
            </a:r>
            <a:b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    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sv-SE" dirty="0">
                <a:solidFill>
                  <a:srgbClr val="00627A"/>
                </a:solidFill>
                <a:latin typeface="Consolas" panose="020B0609020204030204" pitchFamily="49" charset="0"/>
              </a:rPr>
              <a:t>Bike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000000"/>
                </a:solidFill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0000"/>
                </a:solidFill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){</a:t>
            </a:r>
            <a:b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</a:br>
            <a:r>
              <a:rPr lang="sv-SE" i="1" dirty="0">
                <a:solidFill>
                  <a:srgbClr val="8C8C8C"/>
                </a:solidFill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sv-SE" dirty="0" err="1">
                <a:solidFill>
                  <a:srgbClr val="0033B3"/>
                </a:solidFill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871094"/>
                </a:solidFill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sv-SE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03C77D8-E929-E04F-13EA-C5B6A583A6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1CCE465-1A53-2F97-CBB9-98BCB3CF4B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910AFDB-A639-DEEE-B507-555462CB503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9873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AFF8D91-C3AE-CD4B-3615-C09EA504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Åtkomstidentiferare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6DCA636F-7971-AE2F-EA2A-E2ABED16FB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2697821"/>
            <a:ext cx="9629186" cy="1462357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Bike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Bike(</a:t>
            </a:r>
            <a:r>
              <a:rPr lang="sv-SE" dirty="0"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"svart"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v-SE" dirty="0"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Fungerar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i="1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myBike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gears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sv-SE" i="1" dirty="0"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// Fungerar inte</a:t>
            </a:r>
            <a:endParaRPr lang="sv-SE" dirty="0"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9BA23D0-B4E8-205C-8F18-51550536565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9C37256-8733-6E12-0527-C2F5743358D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D1D539E-9596-3E96-338A-5CD5ECE57D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014753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33B1908-CD3B-5249-4CCE-DEA5FD34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Åtkomstidentifierare: get och set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62DE4CB-3A89-9861-36BC-AFACA2B39A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81407" y="1751106"/>
            <a:ext cx="9629186" cy="887591"/>
          </a:xfrm>
        </p:spPr>
        <p:txBody>
          <a:bodyPr/>
          <a:lstStyle/>
          <a:p>
            <a:r>
              <a:rPr lang="sv-SE" dirty="0"/>
              <a:t>En vanlig standard är att göra attribut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private</a:t>
            </a:r>
            <a:r>
              <a:rPr lang="sv-SE" dirty="0"/>
              <a:t> och sedan skapa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public</a:t>
            </a:r>
            <a:r>
              <a:rPr lang="sv-SE" dirty="0"/>
              <a:t> get- och set-metoder för att läsa och ändra värdet på attributen.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66EBD97-1868-E2ED-2731-01CEEC80702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764E598-3A58-4721-B179-0D4D25160858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0669502-00B6-7FDF-4C6C-3110BFF8F52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FB7927D-9B29-4F6B-6B1A-56D9C3DAE1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29</a:t>
            </a:fld>
            <a:endParaRPr lang="sv-SE"/>
          </a:p>
        </p:txBody>
      </p:sp>
      <p:sp>
        <p:nvSpPr>
          <p:cNvPr id="7" name="Platshållare för text 2">
            <a:extLst>
              <a:ext uri="{FF2B5EF4-FFF2-40B4-BE49-F238E27FC236}">
                <a16:creationId xmlns:a16="http://schemas.microsoft.com/office/drawing/2014/main" id="{AEDC89FA-D6CC-099B-17CE-990F70D8C2B2}"/>
              </a:ext>
            </a:extLst>
          </p:cNvPr>
          <p:cNvSpPr txBox="1">
            <a:spLocks/>
          </p:cNvSpPr>
          <p:nvPr/>
        </p:nvSpPr>
        <p:spPr>
          <a:xfrm>
            <a:off x="1281407" y="2638696"/>
            <a:ext cx="9629186" cy="266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numCol="1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 err="1"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setColour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v-S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){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v-SE" dirty="0" err="1"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v-SE" dirty="0" err="1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v-SE" dirty="0" err="1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colour</a:t>
            </a:r>
            <a:r>
              <a:rPr lang="sv-SE" dirty="0"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sv-S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newColour</a:t>
            </a: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lang="sv-SE" dirty="0"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2837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text 1">
            <a:extLst>
              <a:ext uri="{FF2B5EF4-FFF2-40B4-BE49-F238E27FC236}">
                <a16:creationId xmlns:a16="http://schemas.microsoft.com/office/drawing/2014/main" id="{BD72AE15-ECB6-28CB-C113-9E74B86D49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Sammanfattning</a:t>
            </a:r>
          </a:p>
        </p:txBody>
      </p:sp>
    </p:spTree>
    <p:extLst>
      <p:ext uri="{BB962C8B-B14F-4D97-AF65-F5344CB8AC3E}">
        <p14:creationId xmlns:p14="http://schemas.microsoft.com/office/powerpoint/2010/main" val="771825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6B45A77-901A-88F3-78FF-994392A8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Sammanfattning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F9A75C8-DBB7-E79E-7D2C-DD80337023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Klasser är mallar för att skapa </a:t>
            </a:r>
            <a:r>
              <a:rPr lang="sv-SE" i="1" dirty="0"/>
              <a:t>objekt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Man kan skapa flera objekt av samma klass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Objekt har </a:t>
            </a:r>
            <a:r>
              <a:rPr lang="sv-SE" i="1" dirty="0"/>
              <a:t>attribut</a:t>
            </a:r>
            <a:r>
              <a:rPr lang="sv-SE" dirty="0"/>
              <a:t> (variabler) och </a:t>
            </a:r>
            <a:r>
              <a:rPr lang="sv-SE" i="1" dirty="0"/>
              <a:t>operationer</a:t>
            </a:r>
            <a:r>
              <a:rPr lang="sv-SE" dirty="0"/>
              <a:t> (metoder)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Attribut och operationer kan vara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public</a:t>
            </a:r>
            <a:r>
              <a:rPr lang="sv-SE" dirty="0"/>
              <a:t> eller </a:t>
            </a:r>
            <a:r>
              <a:rPr lang="sv-SE" dirty="0">
                <a:solidFill>
                  <a:srgbClr val="002060"/>
                </a:solidFill>
                <a:latin typeface="Consolas" panose="020B0609020204030204" pitchFamily="49" charset="0"/>
              </a:rPr>
              <a:t>private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 err="1"/>
              <a:t>Konstruktorn</a:t>
            </a:r>
            <a:r>
              <a:rPr lang="sv-SE" dirty="0"/>
              <a:t> är en </a:t>
            </a:r>
            <a:r>
              <a:rPr lang="sv-SE" dirty="0" err="1"/>
              <a:t>särskil</a:t>
            </a:r>
            <a:r>
              <a:rPr lang="sv-SE" dirty="0"/>
              <a:t> metod som anropas när ett objekt skapas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 err="1">
                <a:solidFill>
                  <a:srgbClr val="002060"/>
                </a:solidFill>
                <a:latin typeface="Consolas" panose="020B0609020204030204" pitchFamily="49" charset="0"/>
              </a:rPr>
              <a:t>this</a:t>
            </a:r>
            <a:r>
              <a:rPr lang="sv-SE" dirty="0"/>
              <a:t> </a:t>
            </a:r>
            <a:r>
              <a:rPr lang="sv-SE" dirty="0" err="1"/>
              <a:t>referear</a:t>
            </a:r>
            <a:r>
              <a:rPr lang="sv-SE" dirty="0"/>
              <a:t> till det aktuella objektet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D22BD91-17B7-1A95-E498-2ADAFAD401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19E648A-8F70-4552-B7CB-972ADBCA90AE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03894D6-6B2F-0C96-7974-BCC49B2AF1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D9782F4-6803-0F86-1967-F2FB87DC25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50281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8697ED0-2C73-302E-B09F-EF5B250C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Smmanfattning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CD4C966-5DD9-9A59-037A-7C45FD206E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Objekt hjälper oss att strukturera och organisera vår kod.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Objekt kan användas för att modellera verkliga saker och koncept.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Vi kommer att kolla på hur vi kan använda flera klasser i samma program senare.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sv-SE" dirty="0"/>
              <a:t>Det mesta som hjälper oss att läsa och strukturera vår kod är bra. Vi lägger mer tid på att titta på vår kod än att faktiskt skriva den.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C81A2C4-9CC8-5AC1-0087-AA130F7828F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4E15D06-FD46-E750-5235-A001487D8B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E9F0B93-430D-E822-6026-5DBC3CB516C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5770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AA27D2-1738-D6EB-B128-44F9AF7C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Rekommenderad läsning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371B014-9475-5BD6-F2AE-03142762BB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sv-SE" dirty="0" err="1"/>
              <a:t>Dietel</a:t>
            </a:r>
            <a:r>
              <a:rPr lang="sv-SE" dirty="0"/>
              <a:t> &amp; </a:t>
            </a:r>
            <a:r>
              <a:rPr lang="sv-SE" dirty="0" err="1"/>
              <a:t>Dietel</a:t>
            </a:r>
            <a:r>
              <a:rPr lang="sv-SE" dirty="0"/>
              <a:t>, </a:t>
            </a:r>
            <a:r>
              <a:rPr lang="sv-SE" dirty="0" err="1"/>
              <a:t>Kaptiel</a:t>
            </a:r>
            <a:r>
              <a:rPr lang="sv-SE" dirty="0"/>
              <a:t> 7, 298–338</a:t>
            </a:r>
          </a:p>
          <a:p>
            <a:r>
              <a:rPr lang="sv-SE" dirty="0"/>
              <a:t>Tove Janson, </a:t>
            </a:r>
            <a:r>
              <a:rPr lang="sv-SE" i="1" dirty="0"/>
              <a:t>Det osynliga barnet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852E9AF-A0A7-5D8F-6B00-7550C290386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5DC1742-2363-4528-98D2-6E510D05E2C5}" type="datetime1">
              <a:rPr lang="sv-SE" smtClean="0"/>
              <a:t>2025-11-06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7D31278-332B-472A-4D6C-6BF93C40EC9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sv-SE"/>
              <a:t>CD102A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3E6D829-3A82-0CD9-B5B2-2CF78E7AB9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F40CEE9-417A-C549-8C5F-07F5B84EC486}" type="slidenum">
              <a:rPr lang="sv-SE" smtClean="0"/>
              <a:t>33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2750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99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Malmö universitets profilfärger">
      <a:dk1>
        <a:sysClr val="windowText" lastClr="000000"/>
      </a:dk1>
      <a:lt1>
        <a:srgbClr val="FFFFFF"/>
      </a:lt1>
      <a:dk2>
        <a:srgbClr val="FDE1D1"/>
      </a:dk2>
      <a:lt2>
        <a:srgbClr val="E0F2EF"/>
      </a:lt2>
      <a:accent1>
        <a:srgbClr val="98D1C9"/>
      </a:accent1>
      <a:accent2>
        <a:srgbClr val="3E397C"/>
      </a:accent2>
      <a:accent3>
        <a:srgbClr val="958DB7"/>
      </a:accent3>
      <a:accent4>
        <a:srgbClr val="DEDDEC"/>
      </a:accent4>
      <a:accent5>
        <a:srgbClr val="FFEA84"/>
      </a:accent5>
      <a:accent6>
        <a:srgbClr val="FFF8D2"/>
      </a:accent6>
      <a:hlink>
        <a:srgbClr val="000000"/>
      </a:hlink>
      <a:folHlink>
        <a:srgbClr val="000000"/>
      </a:folHlink>
    </a:clrScheme>
    <a:fontScheme name="Typsnitt Malmö universitet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-mall.potx" id="{76260825-B52A-4371-962E-0F646B535D6F}" vid="{252BA94E-D400-4D1B-A3EA-85F8CE57FC0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779499ED8CCF14781A922FD4680420C" ma:contentTypeVersion="11" ma:contentTypeDescription="Skapa ett nytt dokument." ma:contentTypeScope="" ma:versionID="af65cb1759ead4c0afa5d6f90ff6f95f">
  <xsd:schema xmlns:xsd="http://www.w3.org/2001/XMLSchema" xmlns:xs="http://www.w3.org/2001/XMLSchema" xmlns:p="http://schemas.microsoft.com/office/2006/metadata/properties" xmlns:ns2="92df1925-8bd3-47f4-8ffb-0210feaca5af" xmlns:ns3="6b017037-6ae0-4ea8-b6e4-f7ebf1bec620" targetNamespace="http://schemas.microsoft.com/office/2006/metadata/properties" ma:root="true" ma:fieldsID="6140b66735cb508fc35e4d92d78e72d3" ns2:_="" ns3:_="">
    <xsd:import namespace="92df1925-8bd3-47f4-8ffb-0210feaca5af"/>
    <xsd:import namespace="6b017037-6ae0-4ea8-b6e4-f7ebf1bec6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f1925-8bd3-47f4-8ffb-0210feaca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eringar" ma:readOnly="false" ma:fieldId="{5cf76f15-5ced-4ddc-b409-7134ff3c332f}" ma:taxonomyMulti="true" ma:sspId="05791678-e238-4569-b23e-57f6e541a4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7037-6ae0-4ea8-b6e4-f7ebf1bec62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b106a71-5a32-480c-8d42-1d175ae4312c}" ma:internalName="TaxCatchAll" ma:showField="CatchAllData" ma:web="6b017037-6ae0-4ea8-b6e4-f7ebf1bec6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df1925-8bd3-47f4-8ffb-0210feaca5af">
      <Terms xmlns="http://schemas.microsoft.com/office/infopath/2007/PartnerControls"/>
    </lcf76f155ced4ddcb4097134ff3c332f>
    <TaxCatchAll xmlns="6b017037-6ae0-4ea8-b6e4-f7ebf1bec620" xsi:nil="true"/>
  </documentManagement>
</p:properties>
</file>

<file path=customXml/itemProps1.xml><?xml version="1.0" encoding="utf-8"?>
<ds:datastoreItem xmlns:ds="http://schemas.openxmlformats.org/officeDocument/2006/customXml" ds:itemID="{C95A3BE8-68F3-4CA0-BABB-F722A8576D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df1925-8bd3-47f4-8ffb-0210feaca5af"/>
    <ds:schemaRef ds:uri="6b017037-6ae0-4ea8-b6e4-f7ebf1bec6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4C7038-6416-40BC-AF1C-9A58329B58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04BCA1-F795-483A-AE90-AA39EFC9A75E}">
  <ds:schemaRefs>
    <ds:schemaRef ds:uri="http://schemas.microsoft.com/office/2006/metadata/properties"/>
    <ds:schemaRef ds:uri="http://schemas.microsoft.com/office/infopath/2007/PartnerControls"/>
    <ds:schemaRef ds:uri="92df1925-8bd3-47f4-8ffb-0210feaca5af"/>
    <ds:schemaRef ds:uri="6b017037-6ae0-4ea8-b6e4-f7ebf1bec62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MaU-mall</Template>
  <TotalTime>85</TotalTime>
  <Words>1354</Words>
  <Application>Microsoft Office PowerPoint</Application>
  <PresentationFormat>Bredbild</PresentationFormat>
  <Paragraphs>210</Paragraphs>
  <Slides>34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34</vt:i4>
      </vt:variant>
    </vt:vector>
  </HeadingPairs>
  <TitlesOfParts>
    <vt:vector size="40" baseType="lpstr">
      <vt:lpstr>Consolas</vt:lpstr>
      <vt:lpstr>Aptos</vt:lpstr>
      <vt:lpstr>Times New Roman</vt:lpstr>
      <vt:lpstr>Trebuchet MS</vt:lpstr>
      <vt:lpstr>Arial</vt:lpstr>
      <vt:lpstr>Office-tema</vt:lpstr>
      <vt:lpstr>F3: Klasser</vt:lpstr>
      <vt:lpstr>Innehåll</vt:lpstr>
      <vt:lpstr>PowerPoint-presentation</vt:lpstr>
      <vt:lpstr>Innehåll</vt:lpstr>
      <vt:lpstr>Objekt sen tidigare</vt:lpstr>
      <vt:lpstr>Saker vi kunde göra med str</vt:lpstr>
      <vt:lpstr>Vad är ett objekt?</vt:lpstr>
      <vt:lpstr>Vad är en klass?</vt:lpstr>
      <vt:lpstr>Ett exempel</vt:lpstr>
      <vt:lpstr>Ett exempel</vt:lpstr>
      <vt:lpstr>Varför använda objekt?</vt:lpstr>
      <vt:lpstr>Varför använda objekt? Ett exempel </vt:lpstr>
      <vt:lpstr>PowerPoint-presentation</vt:lpstr>
      <vt:lpstr>Innehåll</vt:lpstr>
      <vt:lpstr>Skapa klasser</vt:lpstr>
      <vt:lpstr>Skapa klasser</vt:lpstr>
      <vt:lpstr>Skapa objekt</vt:lpstr>
      <vt:lpstr>Konstruktor</vt:lpstr>
      <vt:lpstr>Konstruktor</vt:lpstr>
      <vt:lpstr>Konstruktor: Flera konstruktorer</vt:lpstr>
      <vt:lpstr>Attribut</vt:lpstr>
      <vt:lpstr>Attribut: Åtkomstmodifierare</vt:lpstr>
      <vt:lpstr>Operationer</vt:lpstr>
      <vt:lpstr>Operationer</vt:lpstr>
      <vt:lpstr>Operationer</vt:lpstr>
      <vt:lpstr>Åtkomstidentifierare</vt:lpstr>
      <vt:lpstr>Åtkomstidentifierare: exempel</vt:lpstr>
      <vt:lpstr>Åtkomstidentiferare</vt:lpstr>
      <vt:lpstr>Åtkomstidentifierare: get och set</vt:lpstr>
      <vt:lpstr>PowerPoint-presentation</vt:lpstr>
      <vt:lpstr>Sammanfattning</vt:lpstr>
      <vt:lpstr>Smmanfattning</vt:lpstr>
      <vt:lpstr>Rekommenderad läsning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Calle Ketola</dc:creator>
  <cp:lastModifiedBy>Calle Ketola</cp:lastModifiedBy>
  <cp:revision>1</cp:revision>
  <dcterms:created xsi:type="dcterms:W3CDTF">2025-11-06T12:05:12Z</dcterms:created>
  <dcterms:modified xsi:type="dcterms:W3CDTF">2025-11-06T13:30:23Z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0x0101005779499ED8CCF14781A922FD4680420C</vt:lpwstr>
  </property>
</Properties>
</file>